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8f8679be794872" /><Relationship Type="http://schemas.openxmlformats.org/officeDocument/2006/relationships/extended-properties" Target="/docProps/app.xml" Id="Rd4738e98ff0e4b47" /><Relationship Type="http://schemas.openxmlformats.org/officeDocument/2006/relationships/officeDocument" Target="/ppt/presentation.xml" Id="R2c1ac586b9794b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13ec9fd6a94651"/>
  </p:sldMasterIdLst>
  <p:notesMasterIdLst>
    <p:notesMasterId xmlns:r="http://schemas.openxmlformats.org/officeDocument/2006/relationships" r:id="Rf363570f08044797"/>
  </p:notesMasterIdLst>
  <p:sldIdLst>
    <p:sldId xmlns:r="http://schemas.openxmlformats.org/officeDocument/2006/relationships" id="256" r:id="R747628dcb39d4176"/>
    <p:sldId xmlns:r="http://schemas.openxmlformats.org/officeDocument/2006/relationships" id="257" r:id="R23e53de9f0154ae6"/>
    <p:sldId xmlns:r="http://schemas.openxmlformats.org/officeDocument/2006/relationships" id="258" r:id="R81cf84953b844333"/>
    <p:sldId xmlns:r="http://schemas.openxmlformats.org/officeDocument/2006/relationships" id="259" r:id="R618e7b571f9f4dbd"/>
    <p:sldId xmlns:r="http://schemas.openxmlformats.org/officeDocument/2006/relationships" id="260" r:id="R02c2614705f14505"/>
    <p:sldId xmlns:r="http://schemas.openxmlformats.org/officeDocument/2006/relationships" id="261" r:id="R1b8055679ed847fc"/>
    <p:sldId xmlns:r="http://schemas.openxmlformats.org/officeDocument/2006/relationships" id="262" r:id="R29c18292cea245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6684f7dbf64d67" /><Relationship Type="http://schemas.openxmlformats.org/officeDocument/2006/relationships/slideMaster" Target="/ppt/slideMasters/slideMaster1.xml" Id="R8f13ec9fd6a94651" /><Relationship Type="http://schemas.openxmlformats.org/officeDocument/2006/relationships/notesMaster" Target="/ppt/notesMasters/notesMaster1.xml" Id="Rf363570f08044797" /><Relationship Type="http://schemas.openxmlformats.org/officeDocument/2006/relationships/presProps" Target="/ppt/presProps.xml" Id="R20359fedf0b841d2" /><Relationship Type="http://schemas.openxmlformats.org/officeDocument/2006/relationships/tableStyles" Target="/ppt/tableStyles.xml" Id="R41507134fa90417a" /><Relationship Type="http://schemas.openxmlformats.org/officeDocument/2006/relationships/slide" Target="/ppt/slides/slide1.xml" Id="R747628dcb39d4176" /><Relationship Type="http://schemas.openxmlformats.org/officeDocument/2006/relationships/slide" Target="/ppt/slides/slide2.xml" Id="R23e53de9f0154ae6" /><Relationship Type="http://schemas.openxmlformats.org/officeDocument/2006/relationships/slide" Target="/ppt/slides/slide3.xml" Id="R81cf84953b844333" /><Relationship Type="http://schemas.openxmlformats.org/officeDocument/2006/relationships/slide" Target="/ppt/slides/slide4.xml" Id="R618e7b571f9f4dbd" /><Relationship Type="http://schemas.openxmlformats.org/officeDocument/2006/relationships/slide" Target="/ppt/slides/slide5.xml" Id="R02c2614705f14505" /><Relationship Type="http://schemas.openxmlformats.org/officeDocument/2006/relationships/slide" Target="/ppt/slides/slide6.xml" Id="R1b8055679ed847fc" /><Relationship Type="http://schemas.openxmlformats.org/officeDocument/2006/relationships/slide" Target="/ppt/slides/slide7.xml" Id="R29c18292cea245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c62e05315841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77b41569a64e24" /><Relationship Type="http://schemas.openxmlformats.org/officeDocument/2006/relationships/notesMaster" Target="/ppt/notesMasters/notesMaster1.xml" Id="Rdae91cda91ce43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2395cad8244cff" /><Relationship Type="http://schemas.openxmlformats.org/officeDocument/2006/relationships/notesMaster" Target="/ppt/notesMasters/notesMaster1.xml" Id="Rc15334f582bc46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68d35f206a4b78" /><Relationship Type="http://schemas.openxmlformats.org/officeDocument/2006/relationships/notesMaster" Target="/ppt/notesMasters/notesMaster1.xml" Id="Rf80b71e1aff54c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1f0b7d5066406b" /><Relationship Type="http://schemas.openxmlformats.org/officeDocument/2006/relationships/notesMaster" Target="/ppt/notesMasters/notesMaster1.xml" Id="Rb15263a0eb5a4a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93fb77bbab4dca" /><Relationship Type="http://schemas.openxmlformats.org/officeDocument/2006/relationships/notesMaster" Target="/ppt/notesMasters/notesMaster1.xml" Id="R6502aaa9248749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02c9057c5c43bc" /><Relationship Type="http://schemas.openxmlformats.org/officeDocument/2006/relationships/notesMaster" Target="/ppt/notesMasters/notesMaster1.xml" Id="R0bc8e34433594e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af5a45bce94d6e" /><Relationship Type="http://schemas.openxmlformats.org/officeDocument/2006/relationships/notesMaster" Target="/ppt/notesMasters/notesMaster1.xml" Id="Rcf50f620bbf94e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a7eae6043345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d9cc13766490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4032b6fcdb4f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2e1cbdbd37459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ffbab7f3314a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22af681db24a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07A58D-575A-4E17-B706-587460B8C6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9B0FEF1-EA1A-40A1-AA8C-AD254A2D3F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1B4B601-64BE-4750-936D-B7F3BAA24D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016C8E-3D4F-4FEA-BA4B-61CA6014EF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DCD8FE9-0FBF-44BF-BF5A-9EC3D422FC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0772B8-CCE4-4CB7-BBFB-20F1497EC5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A46FDB-EB2B-43F5-ABA8-622162E52D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F0E0B2-2118-4289-A7DB-E5A2906A59D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7EF38B-FE80-4491-8359-B9F9B8408D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37860A-066C-450D-9E95-75CC58935D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94b540ec0c44d6" /><Relationship Type="http://schemas.openxmlformats.org/officeDocument/2006/relationships/slideLayout" Target="/ppt/slideLayouts/slideLayout1.xml" Id="R85181afa6e334c2b" /><Relationship Type="http://schemas.openxmlformats.org/officeDocument/2006/relationships/slideLayout" Target="/ppt/slideLayouts/slideLayout2.xml" Id="R5e168ae9a0c646d0" /><Relationship Type="http://schemas.openxmlformats.org/officeDocument/2006/relationships/slideLayout" Target="/ppt/slideLayouts/slideLayout3.xml" Id="Rcf5a650c8d334700" /><Relationship Type="http://schemas.openxmlformats.org/officeDocument/2006/relationships/slideLayout" Target="/ppt/slideLayouts/slideLayout4.xml" Id="R10cdfacfbeed46da" /><Relationship Type="http://schemas.openxmlformats.org/officeDocument/2006/relationships/slideLayout" Target="/ppt/slideLayouts/slideLayout5.xml" Id="R9c93b4df15584077" /><Relationship Type="http://schemas.openxmlformats.org/officeDocument/2006/relationships/slideLayout" Target="/ppt/slideLayouts/slideLayout6.xml" Id="Rd707dd98922e4a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181afa6e334c2b"/>
    <p:sldLayoutId xmlns:r="http://schemas.openxmlformats.org/officeDocument/2006/relationships" id="2147483650" r:id="R5e168ae9a0c646d0"/>
    <p:sldLayoutId xmlns:r="http://schemas.openxmlformats.org/officeDocument/2006/relationships" id="2147483651" r:id="Rcf5a650c8d334700"/>
    <p:sldLayoutId xmlns:r="http://schemas.openxmlformats.org/officeDocument/2006/relationships" id="2147483652" r:id="R10cdfacfbeed46da"/>
    <p:sldLayoutId xmlns:r="http://schemas.openxmlformats.org/officeDocument/2006/relationships" id="2147483653" r:id="R9c93b4df15584077"/>
    <p:sldLayoutId xmlns:r="http://schemas.openxmlformats.org/officeDocument/2006/relationships" id="2147483654" r:id="Rd707dd98922e4a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1aff9e3f584fc4" /><Relationship Type="http://schemas.openxmlformats.org/officeDocument/2006/relationships/notesSlide" Target="/ppt/notesSlides/notesSlide1.xml" Id="Rc07e0cc38a8648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f8b0da4a344f42" /><Relationship Type="http://schemas.openxmlformats.org/officeDocument/2006/relationships/notesSlide" Target="/ppt/notesSlides/notesSlide2.xml" Id="R827a3f39aae948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09ec7b88a04882" /><Relationship Type="http://schemas.openxmlformats.org/officeDocument/2006/relationships/notesSlide" Target="/ppt/notesSlides/notesSlide3.xml" Id="Raaf669d9cf9f49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66751a12c84a6d" /><Relationship Type="http://schemas.openxmlformats.org/officeDocument/2006/relationships/notesSlide" Target="/ppt/notesSlides/notesSlide4.xml" Id="R33b46c20a56741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85e1aa25f24922" /><Relationship Type="http://schemas.openxmlformats.org/officeDocument/2006/relationships/notesSlide" Target="/ppt/notesSlides/notesSlide5.xml" Id="Ref43d922de8745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fefca6c9954c3c" /><Relationship Type="http://schemas.openxmlformats.org/officeDocument/2006/relationships/notesSlide" Target="/ppt/notesSlides/notesSlide6.xml" Id="Rfc185b520a7841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3e063ac0864b43" /><Relationship Type="http://schemas.openxmlformats.org/officeDocument/2006/relationships/notesSlide" Target="/ppt/notesSlides/notesSlide7.xml" Id="R0cf5bebb0aa943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2F67E3CC-7ABA-40DE-B89A-6CDD036C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2025"/>
            <a:ext cx="6667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BDD40DE3-323A-4612-A063-0157215D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668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9C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A9C8F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9C8FA"/>
                </a:solidFill>
                <a:latin typeface="Arial"/>
                <a:ea typeface="Arial"/>
                <a:cs typeface="Arial"/>
              </a:rPr>
              <a:t>JAVA WEB PROJECT  ·  PROJECT REVIEW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FA99E59-18E7-4CCA-8089-D6908254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57350"/>
            <a:ext cx="657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TalentBridge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Job Portal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A8F4AD9-C219-4705-A11B-4823379F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600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3DEE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D3DEE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3DEEE"/>
                </a:solidFill>
                <a:latin typeface="Arial"/>
                <a:ea typeface="Arial"/>
                <a:cs typeface="Arial"/>
              </a:rPr>
              <a:t>A role-based marketplace for hiring and job search</a:t>
            </a:r>
          </a:p>
        </p:txBody>
      </p:sp>
      <p:sp>
        <p:nvSpPr>
          <p:cNvPr id="5" name="cover-stack">
            <a:extLst xmlns:a="http://schemas.openxmlformats.org/drawingml/2006/main">
              <a:ext uri="{FF2B5EF4-FFF2-40B4-BE49-F238E27FC236}">
                <a16:creationId xmlns:a16="http://schemas.microsoft.com/office/drawing/2014/main" id="{361387AC-0EDC-497B-8B3A-F588F58C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386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8FA9C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8FA9C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A9CC"/>
                </a:solidFill>
                <a:latin typeface="Arial"/>
                <a:ea typeface="Arial"/>
                <a:cs typeface="Arial"/>
              </a:rPr>
              <a:t>SERVLETS  /  JSP  /  JDBC  /  SQLITE</a:t>
            </a:r>
          </a:p>
        </p:txBody>
      </p:sp>
      <p:sp>
        <p:nvSpPr>
          <p:cNvPr id="6" name="cover-connector-1">
            <a:extLst xmlns:a="http://schemas.openxmlformats.org/drawingml/2006/main">
              <a:ext uri="{FF2B5EF4-FFF2-40B4-BE49-F238E27FC236}">
                <a16:creationId xmlns:a16="http://schemas.microsoft.com/office/drawing/2014/main" id="{0A715EF3-C9B3-488C-A035-8B063AEB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096250" y="1885950"/>
            <a:ext cx="1666875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94F2"/>
            </a:solidFill>
            <a:prstDash val="solid"/>
          </a:ln>
        </p:spPr>
      </p:sp>
      <p:sp>
        <p:nvSpPr>
          <p:cNvPr id="7" name="cover-connector-2">
            <a:extLst xmlns:a="http://schemas.openxmlformats.org/drawingml/2006/main">
              <a:ext uri="{FF2B5EF4-FFF2-40B4-BE49-F238E27FC236}">
                <a16:creationId xmlns:a16="http://schemas.microsoft.com/office/drawing/2014/main" id="{0EB78C59-21C7-4EC8-B01B-0D034A81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96250" y="2733675"/>
            <a:ext cx="1666875" cy="981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94F2"/>
            </a:solidFill>
            <a:prstDash val="solid"/>
          </a:ln>
        </p:spPr>
      </p:sp>
      <p:sp>
        <p:nvSpPr>
          <p:cNvPr id="8" name="cover-connector-3">
            <a:extLst xmlns:a="http://schemas.openxmlformats.org/drawingml/2006/main">
              <a:ext uri="{FF2B5EF4-FFF2-40B4-BE49-F238E27FC236}">
                <a16:creationId xmlns:a16="http://schemas.microsoft.com/office/drawing/2014/main" id="{EB2ACB62-74E8-47AF-A2E7-A68C71C9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67700" y="27432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A94F2"/>
            </a:solidFill>
            <a:prstDash val="solid"/>
          </a:ln>
        </p:spPr>
      </p:sp>
      <p:sp>
        <p:nvSpPr>
          <p:cNvPr id="9" name="cover-node-0">
            <a:extLst xmlns:a="http://schemas.openxmlformats.org/drawingml/2006/main">
              <a:ext uri="{FF2B5EF4-FFF2-40B4-BE49-F238E27FC236}">
                <a16:creationId xmlns:a16="http://schemas.microsoft.com/office/drawing/2014/main" id="{3F252B2C-B1F4-44E7-A1E6-7F3707D8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98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9525">
            <a:solidFill>
              <a:srgbClr val="2F6FE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TB</a:t>
            </a:r>
          </a:p>
        </p:txBody>
      </p:sp>
      <p:sp>
        <p:nvSpPr>
          <p:cNvPr id="10" name="cover-node-label-0">
            <a:extLst xmlns:a="http://schemas.openxmlformats.org/drawingml/2006/main">
              <a:ext uri="{FF2B5EF4-FFF2-40B4-BE49-F238E27FC236}">
                <a16:creationId xmlns:a16="http://schemas.microsoft.com/office/drawing/2014/main" id="{AE5D8A4C-4E7E-4998-9B53-3FDC8825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52775"/>
            <a:ext cx="1162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B9C9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B9C9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9DF"/>
                </a:solidFill>
                <a:latin typeface="Arial"/>
                <a:ea typeface="Arial"/>
                <a:cs typeface="Arial"/>
              </a:rPr>
              <a:t>PORTAL</a:t>
            </a:r>
          </a:p>
        </p:txBody>
      </p:sp>
      <p:sp>
        <p:nvSpPr>
          <p:cNvPr id="11" name="cover-node-1">
            <a:extLst xmlns:a="http://schemas.openxmlformats.org/drawingml/2006/main">
              <a:ext uri="{FF2B5EF4-FFF2-40B4-BE49-F238E27FC236}">
                <a16:creationId xmlns:a16="http://schemas.microsoft.com/office/drawing/2014/main" id="{3B2B28CE-4F01-4253-8AF7-CCDA4B8C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428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8D"/>
          </a:solidFill>
          <a:ln xmlns:a="http://schemas.openxmlformats.org/drawingml/2006/main" w="9525">
            <a:solidFill>
              <a:srgbClr val="168B8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cover-node-label-1">
            <a:extLst xmlns:a="http://schemas.openxmlformats.org/drawingml/2006/main">
              <a:ext uri="{FF2B5EF4-FFF2-40B4-BE49-F238E27FC236}">
                <a16:creationId xmlns:a16="http://schemas.microsoft.com/office/drawing/2014/main" id="{A945E4FB-4F82-442B-A5BF-340E89CA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71700"/>
            <a:ext cx="1162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B9C9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B9C9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9DF"/>
                </a:solidFill>
                <a:latin typeface="Arial"/>
                <a:ea typeface="Arial"/>
                <a:cs typeface="Arial"/>
              </a:rPr>
              <a:t>EMPLOYER</a:t>
            </a:r>
          </a:p>
        </p:txBody>
      </p:sp>
      <p:sp>
        <p:nvSpPr>
          <p:cNvPr id="13" name="cover-node-2">
            <a:extLst xmlns:a="http://schemas.openxmlformats.org/drawingml/2006/main">
              <a:ext uri="{FF2B5EF4-FFF2-40B4-BE49-F238E27FC236}">
                <a16:creationId xmlns:a16="http://schemas.microsoft.com/office/drawing/2014/main" id="{7CD67F7E-96C0-44C2-B34B-14446948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718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5BC7"/>
          </a:solidFill>
          <a:ln xmlns:a="http://schemas.openxmlformats.org/drawingml/2006/main" w="9525">
            <a:solidFill>
              <a:srgbClr val="725BC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cover-node-label-2">
            <a:extLst xmlns:a="http://schemas.openxmlformats.org/drawingml/2006/main">
              <a:ext uri="{FF2B5EF4-FFF2-40B4-BE49-F238E27FC236}">
                <a16:creationId xmlns:a16="http://schemas.microsoft.com/office/drawing/2014/main" id="{460FC6ED-6A52-4D69-B673-D25C1062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14800"/>
            <a:ext cx="1162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B9C9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B9C9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9DF"/>
                </a:solidFill>
                <a:latin typeface="Arial"/>
                <a:ea typeface="Arial"/>
                <a:cs typeface="Arial"/>
              </a:rPr>
              <a:t>JOB SEEKER</a:t>
            </a:r>
          </a:p>
        </p:txBody>
      </p:sp>
      <p:sp>
        <p:nvSpPr>
          <p:cNvPr id="15" name="cover-node-3">
            <a:extLst xmlns:a="http://schemas.openxmlformats.org/drawingml/2006/main">
              <a:ext uri="{FF2B5EF4-FFF2-40B4-BE49-F238E27FC236}">
                <a16:creationId xmlns:a16="http://schemas.microsoft.com/office/drawing/2014/main" id="{91AD28A6-A893-447D-8DE9-4F825F12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24098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9235"/>
          </a:solidFill>
          <a:ln xmlns:a="http://schemas.openxmlformats.org/drawingml/2006/main" w="9525">
            <a:solidFill>
              <a:srgbClr val="D0923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cover-node-label-3">
            <a:extLst xmlns:a="http://schemas.openxmlformats.org/drawingml/2006/main">
              <a:ext uri="{FF2B5EF4-FFF2-40B4-BE49-F238E27FC236}">
                <a16:creationId xmlns:a16="http://schemas.microsoft.com/office/drawing/2014/main" id="{ADF846CD-7DF3-4782-8FA8-0DCB9720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52775"/>
            <a:ext cx="1162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B9C9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B9C9D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9C9D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17" name="cover-bottom-rule">
            <a:extLst xmlns:a="http://schemas.openxmlformats.org/drawingml/2006/main">
              <a:ext uri="{FF2B5EF4-FFF2-40B4-BE49-F238E27FC236}">
                <a16:creationId xmlns:a16="http://schemas.microsoft.com/office/drawing/2014/main" id="{0150223B-0404-47FA-9479-DCF8F36C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52500" y="60007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73950"/>
            </a:solidFill>
            <a:prstDash val="solid"/>
          </a:ln>
        </p:spPr>
      </p:sp>
      <p:sp>
        <p:nvSpPr>
          <p:cNvPr id="18" name="cover-lower">
            <a:extLst xmlns:a="http://schemas.openxmlformats.org/drawingml/2006/main">
              <a:ext uri="{FF2B5EF4-FFF2-40B4-BE49-F238E27FC236}">
                <a16:creationId xmlns:a16="http://schemas.microsoft.com/office/drawing/2014/main" id="{1545359F-8A5E-49A2-9A1D-A6E71E8C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245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8498B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8498B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498B4"/>
                </a:solidFill>
                <a:latin typeface="Arial"/>
                <a:ea typeface="Arial"/>
                <a:cs typeface="Arial"/>
              </a:rPr>
              <a:t>PLANNING  ·  DATA MODEL  ·  RESPONSIVE INTERFACE</a:t>
            </a:r>
          </a:p>
        </p:txBody>
      </p:sp>
    </p:spTree>
    <p:extLst>
      <p:ext uri="{BB962C8B-B14F-4D97-AF65-F5344CB8AC3E}">
        <p14:creationId xmlns:p14="http://schemas.microsoft.com/office/powerpoint/2010/main" val="19905859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2">
            <a:extLst xmlns:a="http://schemas.openxmlformats.org/drawingml/2006/main">
              <a:ext uri="{FF2B5EF4-FFF2-40B4-BE49-F238E27FC236}">
                <a16:creationId xmlns:a16="http://schemas.microsoft.com/office/drawing/2014/main" id="{7BAEDF57-092B-4719-B0F8-A6976FB3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PROBLEM AND USERS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7C73D8F1-3F7D-41A7-BEE1-3F8EEB27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Product scope</a:t>
            </a:r>
          </a:p>
        </p:txBody>
      </p:sp>
      <p:sp>
        <p:nvSpPr>
          <p:cNvPr id="3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1DE7C278-75A5-4268-A522-8734441C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13811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4" name="scope-intro">
            <a:extLst xmlns:a="http://schemas.openxmlformats.org/drawingml/2006/main">
              <a:ext uri="{FF2B5EF4-FFF2-40B4-BE49-F238E27FC236}">
                <a16:creationId xmlns:a16="http://schemas.microsoft.com/office/drawing/2014/main" id="{C4AF784F-4AAE-465C-912A-498C2C15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One portal coordinates job discovery, hiring decisions, and candidate communication.</a:t>
            </a:r>
          </a:p>
        </p:txBody>
      </p:sp>
      <p:sp>
        <p:nvSpPr>
          <p:cNvPr id="5" name="scope-num-0">
            <a:extLst xmlns:a="http://schemas.openxmlformats.org/drawingml/2006/main">
              <a:ext uri="{FF2B5EF4-FFF2-40B4-BE49-F238E27FC236}">
                <a16:creationId xmlns:a16="http://schemas.microsoft.com/office/drawing/2014/main" id="{A5A6EF06-1189-46CD-ABAA-69B4AF60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cope-title-0">
            <a:extLst xmlns:a="http://schemas.openxmlformats.org/drawingml/2006/main">
              <a:ext uri="{FF2B5EF4-FFF2-40B4-BE49-F238E27FC236}">
                <a16:creationId xmlns:a16="http://schemas.microsoft.com/office/drawing/2014/main" id="{CE9DC791-9C67-46FE-B57D-1A250AA1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Job seeker</a:t>
            </a:r>
          </a:p>
        </p:txBody>
      </p:sp>
      <p:sp>
        <p:nvSpPr>
          <p:cNvPr id="7" name="scope-mark-0">
            <a:extLst xmlns:a="http://schemas.openxmlformats.org/drawingml/2006/main">
              <a:ext uri="{FF2B5EF4-FFF2-40B4-BE49-F238E27FC236}">
                <a16:creationId xmlns:a16="http://schemas.microsoft.com/office/drawing/2014/main" id="{98E6AC72-C1C0-4B6E-B6B6-82B55C4B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ope-lead-0">
            <a:extLst xmlns:a="http://schemas.openxmlformats.org/drawingml/2006/main">
              <a:ext uri="{FF2B5EF4-FFF2-40B4-BE49-F238E27FC236}">
                <a16:creationId xmlns:a16="http://schemas.microsoft.com/office/drawing/2014/main" id="{A0BD36C3-DD18-4639-A6A1-75CE7429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Find a role and follow through</a:t>
            </a:r>
          </a:p>
        </p:txBody>
      </p:sp>
      <p:sp>
        <p:nvSpPr>
          <p:cNvPr id="9" name="scope-copy-0">
            <a:extLst xmlns:a="http://schemas.openxmlformats.org/drawingml/2006/main">
              <a:ext uri="{FF2B5EF4-FFF2-40B4-BE49-F238E27FC236}">
                <a16:creationId xmlns:a16="http://schemas.microsoft.com/office/drawing/2014/main" id="{8A433D0F-ADA1-44A2-AA82-20D33951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3190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Search approved listings by keyword, location, and category. Apply with a note and resume, track status, and message the employer.</a:t>
            </a:r>
          </a:p>
        </p:txBody>
      </p:sp>
      <p:sp>
        <p:nvSpPr>
          <p:cNvPr id="10" name="scope-divider-1">
            <a:extLst xmlns:a="http://schemas.openxmlformats.org/drawingml/2006/main">
              <a:ext uri="{FF2B5EF4-FFF2-40B4-BE49-F238E27FC236}">
                <a16:creationId xmlns:a16="http://schemas.microsoft.com/office/drawing/2014/main" id="{4AC1758E-CEEC-41B9-A98A-9F4830AE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76725" y="24669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1" name="scope-num-1">
            <a:extLst xmlns:a="http://schemas.openxmlformats.org/drawingml/2006/main">
              <a:ext uri="{FF2B5EF4-FFF2-40B4-BE49-F238E27FC236}">
                <a16:creationId xmlns:a16="http://schemas.microsoft.com/office/drawing/2014/main" id="{CE5387F4-91BD-447F-B2A5-457BB1FF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622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68B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68B8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B8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scope-title-1">
            <a:extLst xmlns:a="http://schemas.openxmlformats.org/drawingml/2006/main">
              <a:ext uri="{FF2B5EF4-FFF2-40B4-BE49-F238E27FC236}">
                <a16:creationId xmlns:a16="http://schemas.microsoft.com/office/drawing/2014/main" id="{F03BCF38-4376-47A9-9E98-658A72E0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62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Employer</a:t>
            </a:r>
          </a:p>
        </p:txBody>
      </p:sp>
      <p:sp>
        <p:nvSpPr>
          <p:cNvPr id="13" name="scope-mark-1">
            <a:extLst xmlns:a="http://schemas.openxmlformats.org/drawingml/2006/main">
              <a:ext uri="{FF2B5EF4-FFF2-40B4-BE49-F238E27FC236}">
                <a16:creationId xmlns:a16="http://schemas.microsoft.com/office/drawing/2014/main" id="{362723EB-84AF-4188-99EA-354EF1E1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051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cope-lead-1">
            <a:extLst xmlns:a="http://schemas.openxmlformats.org/drawingml/2006/main">
              <a:ext uri="{FF2B5EF4-FFF2-40B4-BE49-F238E27FC236}">
                <a16:creationId xmlns:a16="http://schemas.microsoft.com/office/drawing/2014/main" id="{F8A14D95-4FC9-47ED-979D-14E1E924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623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Hire with a clear process</a:t>
            </a:r>
          </a:p>
        </p:txBody>
      </p:sp>
      <p:sp>
        <p:nvSpPr>
          <p:cNvPr id="15" name="scope-copy-1">
            <a:extLst xmlns:a="http://schemas.openxmlformats.org/drawingml/2006/main">
              <a:ext uri="{FF2B5EF4-FFF2-40B4-BE49-F238E27FC236}">
                <a16:creationId xmlns:a16="http://schemas.microsoft.com/office/drawing/2014/main" id="{24D5EBCC-A1D9-4E8F-AC30-F8B0B909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14800"/>
            <a:ext cx="3190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Create and edit openings, review applicants, update application stages, and keep candidate conversations together.</a:t>
            </a:r>
          </a:p>
        </p:txBody>
      </p:sp>
      <p:sp>
        <p:nvSpPr>
          <p:cNvPr id="16" name="scope-divider-2">
            <a:extLst xmlns:a="http://schemas.openxmlformats.org/drawingml/2006/main">
              <a:ext uri="{FF2B5EF4-FFF2-40B4-BE49-F238E27FC236}">
                <a16:creationId xmlns:a16="http://schemas.microsoft.com/office/drawing/2014/main" id="{4E2836D9-66C3-4C48-A2F9-E9E24FA5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115300" y="24669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7" name="scope-num-2">
            <a:extLst xmlns:a="http://schemas.openxmlformats.org/drawingml/2006/main">
              <a:ext uri="{FF2B5EF4-FFF2-40B4-BE49-F238E27FC236}">
                <a16:creationId xmlns:a16="http://schemas.microsoft.com/office/drawing/2014/main" id="{FBDD574D-7BC1-478E-AEC9-146D3CCA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25B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725BC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25BC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scope-title-2">
            <a:extLst xmlns:a="http://schemas.openxmlformats.org/drawingml/2006/main">
              <a:ext uri="{FF2B5EF4-FFF2-40B4-BE49-F238E27FC236}">
                <a16:creationId xmlns:a16="http://schemas.microsoft.com/office/drawing/2014/main" id="{8D6A053A-4BC5-4B01-9598-5F8FC5F7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62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Administrator</a:t>
            </a:r>
          </a:p>
        </p:txBody>
      </p:sp>
      <p:sp>
        <p:nvSpPr>
          <p:cNvPr id="19" name="scope-mark-2">
            <a:extLst xmlns:a="http://schemas.openxmlformats.org/drawingml/2006/main">
              <a:ext uri="{FF2B5EF4-FFF2-40B4-BE49-F238E27FC236}">
                <a16:creationId xmlns:a16="http://schemas.microsoft.com/office/drawing/2014/main" id="{9960BCBD-D7E1-4221-A802-1687DE3F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0517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B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cope-lead-2">
            <a:extLst xmlns:a="http://schemas.openxmlformats.org/drawingml/2006/main">
              <a:ext uri="{FF2B5EF4-FFF2-40B4-BE49-F238E27FC236}">
                <a16:creationId xmlns:a16="http://schemas.microsoft.com/office/drawing/2014/main" id="{21D1B413-2A53-41A7-914D-182D8366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623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Keep the marketplace reliable</a:t>
            </a:r>
          </a:p>
        </p:txBody>
      </p:sp>
      <p:sp>
        <p:nvSpPr>
          <p:cNvPr id="21" name="scope-copy-2">
            <a:extLst xmlns:a="http://schemas.openxmlformats.org/drawingml/2006/main">
              <a:ext uri="{FF2B5EF4-FFF2-40B4-BE49-F238E27FC236}">
                <a16:creationId xmlns:a16="http://schemas.microsoft.com/office/drawing/2014/main" id="{B53BE636-E302-46CB-A202-A0B49498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14800"/>
            <a:ext cx="3190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Approve postings, manage accounts and roles, update portal settings, and review activity and status summaries.</a:t>
            </a:r>
          </a:p>
        </p:txBody>
      </p:sp>
      <p:sp>
        <p:nvSpPr>
          <p:cNvPr id="22" name="scope-added">
            <a:extLst xmlns:a="http://schemas.openxmlformats.org/drawingml/2006/main">
              <a:ext uri="{FF2B5EF4-FFF2-40B4-BE49-F238E27FC236}">
                <a16:creationId xmlns:a16="http://schemas.microsoft.com/office/drawing/2014/main" id="{82E5CF35-EC68-4717-9743-12A6CA9C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ADDED FOR THE REVIEW  ·  First-run demo data  ·  Role-based access  ·  Resume handling  ·  Responsive layout</a:t>
            </a:r>
          </a:p>
        </p:txBody>
      </p:sp>
      <p:sp>
        <p:nvSpPr>
          <p:cNvPr id="2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E66001CB-E863-4FA3-89C3-F8732450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4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85118156-5EB2-4499-B47B-04F2A1DA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8B98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B98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98AA"/>
                </a:solidFill>
                <a:latin typeface="Arial"/>
                <a:ea typeface="Arial"/>
                <a:cs typeface="Arial"/>
              </a:rPr>
              <a:t>TALENTBRIDGE  /  JAVA WEB PROJECT</a:t>
            </a:r>
          </a:p>
        </p:txBody>
      </p:sp>
      <p:sp>
        <p:nvSpPr>
          <p:cNvPr id="25" name="footer-right-2">
            <a:extLst xmlns:a="http://schemas.openxmlformats.org/drawingml/2006/main">
              <a:ext uri="{FF2B5EF4-FFF2-40B4-BE49-F238E27FC236}">
                <a16:creationId xmlns:a16="http://schemas.microsoft.com/office/drawing/2014/main" id="{2323263B-5E1A-4D85-80AD-26300385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8B98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8B98A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98AA"/>
                </a:solidFill>
                <a:latin typeface="Arial"/>
                <a:ea typeface="Arial"/>
                <a:cs typeface="Arial"/>
              </a:rPr>
              <a:t>02  /  07</a:t>
            </a:r>
          </a:p>
        </p:txBody>
      </p:sp>
    </p:spTree>
    <p:extLst>
      <p:ext uri="{BB962C8B-B14F-4D97-AF65-F5344CB8AC3E}">
        <p14:creationId xmlns:p14="http://schemas.microsoft.com/office/powerpoint/2010/main" val="5255195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0706C1-468E-4EFB-8EFC-45412FF18369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7286625" y="3886200"/>
            <a:ext cx="9525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A66F18"/>
            </a:solidFill>
            <a:prstDash val="dash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4915A-1D39-43C7-9DE5-4941D33F3FA6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343900" y="3228975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4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F3D01-535F-466B-B16C-D3C79EDF76C5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572125" y="3228975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4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729893-D2E9-431D-800E-6D4D8F264A3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00350" y="3228975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4"/>
            </a:solidFill>
            <a:prstDash val="solid"/>
            <a:tailEnd type="triangle" w="sm" len="sm"/>
          </a:ln>
        </p:spPr>
      </p:cxnSp>
      <p:sp>
        <p:nvSpPr>
          <p:cNvPr id="36" name="kicker-3">
            <a:extLst xmlns:a="http://schemas.openxmlformats.org/drawingml/2006/main">
              <a:ext uri="{FF2B5EF4-FFF2-40B4-BE49-F238E27FC236}">
                <a16:creationId xmlns:a16="http://schemas.microsoft.com/office/drawing/2014/main" id="{0816AAA3-71F2-4C7E-B244-65E94AD6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PROJECT STRUCTURE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671EFDE-7C15-4790-9287-AA8B0EC9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3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2B8B1B63-DC9C-4CD3-A284-C0BE484A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13811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4" name="arch-subtitle">
            <a:extLst xmlns:a="http://schemas.openxmlformats.org/drawingml/2006/main">
              <a:ext uri="{FF2B5EF4-FFF2-40B4-BE49-F238E27FC236}">
                <a16:creationId xmlns:a16="http://schemas.microsoft.com/office/drawing/2014/main" id="{D54A5521-54AB-42A6-8FB0-638C1143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 servlet MVC flow keeps presentation, workflow rules, and persistence in separate layers.</a:t>
            </a:r>
          </a:p>
        </p:txBody>
      </p:sp>
      <p:sp>
        <p:nvSpPr>
          <p:cNvPr id="5" name="arch-layer-0">
            <a:extLst xmlns:a="http://schemas.openxmlformats.org/drawingml/2006/main">
              <a:ext uri="{FF2B5EF4-FFF2-40B4-BE49-F238E27FC236}">
                <a16:creationId xmlns:a16="http://schemas.microsoft.com/office/drawing/2014/main" id="{A80910BF-BC98-4EB8-84E7-7AA71868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209550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EAF1FE"/>
          </a:solidFill>
          <a:ln xmlns:a="http://schemas.openxmlformats.org/drawingml/2006/main" w="13335">
            <a:solidFill>
              <a:srgbClr val="BED1F7"/>
            </a:solidFill>
            <a:prstDash val="solid"/>
          </a:ln>
        </p:spPr>
      </p:sp>
      <p:sp>
        <p:nvSpPr>
          <p:cNvPr id="6" name="arch-title-0">
            <a:extLst xmlns:a="http://schemas.openxmlformats.org/drawingml/2006/main">
              <a:ext uri="{FF2B5EF4-FFF2-40B4-BE49-F238E27FC236}">
                <a16:creationId xmlns:a16="http://schemas.microsoft.com/office/drawing/2014/main" id="{E53112C9-A2A1-4122-B03A-1E671362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7" name="arch-detail-0">
            <a:extLst xmlns:a="http://schemas.openxmlformats.org/drawingml/2006/main">
              <a:ext uri="{FF2B5EF4-FFF2-40B4-BE49-F238E27FC236}">
                <a16:creationId xmlns:a16="http://schemas.microsoft.com/office/drawing/2014/main" id="{68272672-5C87-46BB-9D4A-E678FCDB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1790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Responsive JSP views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HTML forms · CSS</a:t>
            </a:r>
          </a:p>
        </p:txBody>
      </p:sp>
      <p:sp>
        <p:nvSpPr>
          <p:cNvPr id="8" name="arch-layer-1">
            <a:extLst xmlns:a="http://schemas.openxmlformats.org/drawingml/2006/main">
              <a:ext uri="{FF2B5EF4-FFF2-40B4-BE49-F238E27FC236}">
                <a16:creationId xmlns:a16="http://schemas.microsoft.com/office/drawing/2014/main" id="{603E0779-F76E-436F-AD21-AF612553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209550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E6F5F2"/>
          </a:solidFill>
          <a:ln xmlns:a="http://schemas.openxmlformats.org/drawingml/2006/main" w="13335">
            <a:solidFill>
              <a:srgbClr val="B6E0D8"/>
            </a:solidFill>
            <a:prstDash val="solid"/>
          </a:ln>
        </p:spPr>
      </p:sp>
      <p:sp>
        <p:nvSpPr>
          <p:cNvPr id="9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42978244-6685-46BD-9D39-F680CB10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7146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Web layer</a:t>
            </a:r>
          </a:p>
        </p:txBody>
      </p:sp>
      <p:sp>
        <p:nvSpPr>
          <p:cNvPr id="10" name="arch-detail-1">
            <a:extLst xmlns:a="http://schemas.openxmlformats.org/drawingml/2006/main">
              <a:ext uri="{FF2B5EF4-FFF2-40B4-BE49-F238E27FC236}">
                <a16:creationId xmlns:a16="http://schemas.microsoft.com/office/drawing/2014/main" id="{6D5172EB-FEE4-43BC-8CD7-AB357EDF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133725"/>
            <a:ext cx="1790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06"/>
          </a:bodyPr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Servlet controllers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Session · CSRF · role checks</a:t>
            </a:r>
          </a:p>
        </p:txBody>
      </p:sp>
      <p:sp>
        <p:nvSpPr>
          <p:cNvPr id="11" name="arch-layer-2">
            <a:extLst xmlns:a="http://schemas.openxmlformats.org/drawingml/2006/main">
              <a:ext uri="{FF2B5EF4-FFF2-40B4-BE49-F238E27FC236}">
                <a16:creationId xmlns:a16="http://schemas.microsoft.com/office/drawing/2014/main" id="{CDA816C0-52B5-45BE-944F-CD57D787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209550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0EDFA"/>
          </a:solidFill>
          <a:ln xmlns:a="http://schemas.openxmlformats.org/drawingml/2006/main" w="13335">
            <a:solidFill>
              <a:srgbClr val="D4CDED"/>
            </a:solidFill>
            <a:prstDash val="solid"/>
          </a:ln>
        </p:spPr>
      </p:sp>
      <p:sp>
        <p:nvSpPr>
          <p:cNvPr id="12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834BC72D-20D0-4AEA-AD79-72E5A7D4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146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Data access</a:t>
            </a:r>
          </a:p>
        </p:txBody>
      </p:sp>
      <p:sp>
        <p:nvSpPr>
          <p:cNvPr id="13" name="arch-detail-2">
            <a:extLst xmlns:a="http://schemas.openxmlformats.org/drawingml/2006/main">
              <a:ext uri="{FF2B5EF4-FFF2-40B4-BE49-F238E27FC236}">
                <a16:creationId xmlns:a16="http://schemas.microsoft.com/office/drawing/2014/main" id="{3B498D88-D947-4F38-A8DB-5F5258CC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33725"/>
            <a:ext cx="1790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JDBC DAO classes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Prepared statements</a:t>
            </a:r>
          </a:p>
        </p:txBody>
      </p:sp>
      <p:sp>
        <p:nvSpPr>
          <p:cNvPr id="14" name="arch-layer-3">
            <a:extLst xmlns:a="http://schemas.openxmlformats.org/drawingml/2006/main">
              <a:ext uri="{FF2B5EF4-FFF2-40B4-BE49-F238E27FC236}">
                <a16:creationId xmlns:a16="http://schemas.microsoft.com/office/drawing/2014/main" id="{F2BC9E04-721E-461C-AC3A-C97FC19E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71750"/>
            <a:ext cx="209550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13335">
            <a:solidFill>
              <a:srgbClr val="D7DFE8"/>
            </a:solidFill>
            <a:prstDash val="solid"/>
          </a:ln>
        </p:spPr>
      </p:sp>
      <p:sp>
        <p:nvSpPr>
          <p:cNvPr id="15" name="arch-title-3">
            <a:extLst xmlns:a="http://schemas.openxmlformats.org/drawingml/2006/main">
              <a:ext uri="{FF2B5EF4-FFF2-40B4-BE49-F238E27FC236}">
                <a16:creationId xmlns:a16="http://schemas.microsoft.com/office/drawing/2014/main" id="{350F41A7-5B4D-4192-8B42-AFB1F350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714625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SQLite</a:t>
            </a:r>
          </a:p>
        </p:txBody>
      </p:sp>
      <p:sp>
        <p:nvSpPr>
          <p:cNvPr id="16" name="arch-detail-3">
            <a:extLst xmlns:a="http://schemas.openxmlformats.org/drawingml/2006/main">
              <a:ext uri="{FF2B5EF4-FFF2-40B4-BE49-F238E27FC236}">
                <a16:creationId xmlns:a16="http://schemas.microsoft.com/office/drawing/2014/main" id="{828F9D46-7AAA-437A-ACD2-851D9E71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33725"/>
            <a:ext cx="1790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Relational schema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Foreign keys · indexes</a:t>
            </a:r>
          </a:p>
        </p:txBody>
      </p:sp>
      <p:sp>
        <p:nvSpPr>
          <p:cNvPr id="20" name="arch-flow-label-1">
            <a:extLst xmlns:a="http://schemas.openxmlformats.org/drawingml/2006/main">
              <a:ext uri="{FF2B5EF4-FFF2-40B4-BE49-F238E27FC236}">
                <a16:creationId xmlns:a16="http://schemas.microsoft.com/office/drawing/2014/main" id="{34160BFB-1BB2-4ABA-B13F-17A5092B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717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21" name="arch-flow-label-2">
            <a:extLst xmlns:a="http://schemas.openxmlformats.org/drawingml/2006/main">
              <a:ext uri="{FF2B5EF4-FFF2-40B4-BE49-F238E27FC236}">
                <a16:creationId xmlns:a16="http://schemas.microsoft.com/office/drawing/2014/main" id="{1BF26649-6792-42ED-8BD8-81F83A14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7172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validated action</a:t>
            </a:r>
          </a:p>
        </p:txBody>
      </p:sp>
      <p:sp>
        <p:nvSpPr>
          <p:cNvPr id="22" name="arch-flow-label-3">
            <a:extLst xmlns:a="http://schemas.openxmlformats.org/drawingml/2006/main">
              <a:ext uri="{FF2B5EF4-FFF2-40B4-BE49-F238E27FC236}">
                <a16:creationId xmlns:a16="http://schemas.microsoft.com/office/drawing/2014/main" id="{57F1A537-FCA3-4FD3-9D66-774AC778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3717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23" name="arch-worker">
            <a:extLst xmlns:a="http://schemas.openxmlformats.org/drawingml/2006/main">
              <a:ext uri="{FF2B5EF4-FFF2-40B4-BE49-F238E27FC236}">
                <a16:creationId xmlns:a16="http://schemas.microsoft.com/office/drawing/2014/main" id="{8A649C62-2C94-4E20-9F2F-E421778F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29125"/>
            <a:ext cx="2095500" cy="809625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11430">
            <a:solidFill>
              <a:srgbClr val="E8D3A9"/>
            </a:solidFill>
            <a:prstDash val="solid"/>
          </a:ln>
        </p:spPr>
      </p:sp>
      <p:sp>
        <p:nvSpPr>
          <p:cNvPr id="24" name="arch-worker-title">
            <a:extLst xmlns:a="http://schemas.openxmlformats.org/drawingml/2006/main">
              <a:ext uri="{FF2B5EF4-FFF2-40B4-BE49-F238E27FC236}">
                <a16:creationId xmlns:a16="http://schemas.microsoft.com/office/drawing/2014/main" id="{6941D43F-BD4C-49E2-9ABB-11FE407D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24375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Managed workers</a:t>
            </a:r>
          </a:p>
        </p:txBody>
      </p:sp>
      <p:sp>
        <p:nvSpPr>
          <p:cNvPr id="25" name="arch-worker-detail">
            <a:extLst xmlns:a="http://schemas.openxmlformats.org/drawingml/2006/main">
              <a:ext uri="{FF2B5EF4-FFF2-40B4-BE49-F238E27FC236}">
                <a16:creationId xmlns:a16="http://schemas.microsoft.com/office/drawing/2014/main" id="{108124AE-37DA-4C50-AB80-6CF8E18C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Activity writes · expired-job cleanup</a:t>
            </a:r>
          </a:p>
        </p:txBody>
      </p:sp>
      <p:sp>
        <p:nvSpPr>
          <p:cNvPr id="27" name="arch-control-line-0">
            <a:extLst xmlns:a="http://schemas.openxmlformats.org/drawingml/2006/main">
              <a:ext uri="{FF2B5EF4-FFF2-40B4-BE49-F238E27FC236}">
                <a16:creationId xmlns:a16="http://schemas.microsoft.com/office/drawing/2014/main" id="{3730A989-90BF-41C4-B76A-EE4ADE79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38800"/>
            <a:ext cx="38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arch-control-0">
            <a:extLst xmlns:a="http://schemas.openxmlformats.org/drawingml/2006/main">
              <a:ext uri="{FF2B5EF4-FFF2-40B4-BE49-F238E27FC236}">
                <a16:creationId xmlns:a16="http://schemas.microsoft.com/office/drawing/2014/main" id="{E96E0BE7-30BE-4657-B8C6-7264155C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619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PBKDF2 password hashes</a:t>
            </a:r>
          </a:p>
        </p:txBody>
      </p:sp>
      <p:sp>
        <p:nvSpPr>
          <p:cNvPr id="29" name="arch-control-line-1">
            <a:extLst xmlns:a="http://schemas.openxmlformats.org/drawingml/2006/main">
              <a:ext uri="{FF2B5EF4-FFF2-40B4-BE49-F238E27FC236}">
                <a16:creationId xmlns:a16="http://schemas.microsoft.com/office/drawing/2014/main" id="{51856D41-6FB1-47DA-A077-45492469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38800"/>
            <a:ext cx="38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rch-control-1">
            <a:extLst xmlns:a="http://schemas.openxmlformats.org/drawingml/2006/main">
              <a:ext uri="{FF2B5EF4-FFF2-40B4-BE49-F238E27FC236}">
                <a16:creationId xmlns:a16="http://schemas.microsoft.com/office/drawing/2014/main" id="{78CA0C86-B768-4684-83AA-27B5DF68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619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Private resume files</a:t>
            </a:r>
          </a:p>
        </p:txBody>
      </p:sp>
      <p:sp>
        <p:nvSpPr>
          <p:cNvPr id="31" name="arch-control-line-2">
            <a:extLst xmlns:a="http://schemas.openxmlformats.org/drawingml/2006/main">
              <a:ext uri="{FF2B5EF4-FFF2-40B4-BE49-F238E27FC236}">
                <a16:creationId xmlns:a16="http://schemas.microsoft.com/office/drawing/2014/main" id="{3FD08EF1-F1DB-4B99-869A-45B79A1A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38800"/>
            <a:ext cx="381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5B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arch-control-2">
            <a:extLst xmlns:a="http://schemas.openxmlformats.org/drawingml/2006/main">
              <a:ext uri="{FF2B5EF4-FFF2-40B4-BE49-F238E27FC236}">
                <a16:creationId xmlns:a16="http://schemas.microsoft.com/office/drawing/2014/main" id="{61626739-6894-4A13-9D3E-764C41DD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619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Polymorphic user roles</a:t>
            </a:r>
          </a:p>
        </p:txBody>
      </p:sp>
      <p:sp>
        <p:nvSpPr>
          <p:cNvPr id="3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533F48C0-AE88-4274-822F-2A6F4466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4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2444B77E-ED14-421A-8AEA-029BF2C8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8B98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B98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98AA"/>
                </a:solidFill>
                <a:latin typeface="Arial"/>
                <a:ea typeface="Arial"/>
                <a:cs typeface="Arial"/>
              </a:rPr>
              <a:t>TALENTBRIDGE  /  JAVA WEB PROJECT</a:t>
            </a:r>
          </a:p>
        </p:txBody>
      </p:sp>
      <p:sp>
        <p:nvSpPr>
          <p:cNvPr id="35" name="footer-right-3">
            <a:extLst xmlns:a="http://schemas.openxmlformats.org/drawingml/2006/main">
              <a:ext uri="{FF2B5EF4-FFF2-40B4-BE49-F238E27FC236}">
                <a16:creationId xmlns:a16="http://schemas.microsoft.com/office/drawing/2014/main" id="{3AFD0E0B-8568-4BB1-B6A9-C4852B0E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8B98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8B98A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98AA"/>
                </a:solidFill>
                <a:latin typeface="Arial"/>
                <a:ea typeface="Arial"/>
                <a:cs typeface="Arial"/>
              </a:rPr>
              <a:t>03  /  07</a:t>
            </a:r>
          </a:p>
        </p:txBody>
      </p:sp>
    </p:spTree>
    <p:extLst>
      <p:ext uri="{BB962C8B-B14F-4D97-AF65-F5344CB8AC3E}">
        <p14:creationId xmlns:p14="http://schemas.microsoft.com/office/powerpoint/2010/main" val="12512988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816087-13C4-46E9-92CB-D26B7E640A4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1738313" y="3495675"/>
            <a:ext cx="1738313" cy="1585913"/>
          </a:xfrm>
          <a:prstGeom xmlns:a="http://schemas.openxmlformats.org/drawingml/2006/main" prst="bentConnector5">
            <a:avLst>
              <a:gd name="adj1" fmla="val 0"/>
              <a:gd name="adj2" fmla="val 14414"/>
              <a:gd name="adj3" fmla="val 86849"/>
            </a:avLst>
          </a:prstGeom>
          <a:ln xmlns:a="http://schemas.openxmlformats.org/drawingml/2006/main" w="15240">
            <a:solidFill>
              <a:srgbClr val="A66F18"/>
            </a:solidFill>
            <a:prstDash val="dash"/>
            <a:tailEnd type="triangle" w="sm" len="sm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89840C-105A-45B5-949C-11CB2A28D4B7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V="1">
            <a:off x="1738313" y="2209800"/>
            <a:ext cx="5810250" cy="1285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5240">
            <a:solidFill>
              <a:srgbClr val="725BC7"/>
            </a:solidFill>
            <a:prstDash val="dash"/>
            <a:tailEnd type="triangle" w="sm" len="sm"/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16AF16-EDB4-448F-ADEC-C3AF2C16B57B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8715375" y="2595563"/>
            <a:ext cx="66675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6FE4"/>
            </a:solidFill>
            <a:prstDash val="solid"/>
            <a:tailEnd type="triangle" w="sm" len="sm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1CBB2F-69AF-473A-A1E3-ECE966716AC0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667375" y="2595563"/>
            <a:ext cx="714375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6FE4"/>
            </a:solidFill>
            <a:prstDash val="solid"/>
            <a:tailEnd type="triangle" w="sm" len="sm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8DE3D3-F269-4A30-9A22-22A1D6433C2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809875" y="2595563"/>
            <a:ext cx="66675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F6FE4"/>
            </a:solidFill>
            <a:prstDash val="solid"/>
            <a:tailEnd type="triangle" w="sm" len="sm"/>
          </a:ln>
        </p:spPr>
      </p:cxnSp>
      <p:sp>
        <p:nvSpPr>
          <p:cNvPr id="54" name="kicker-4">
            <a:extLst xmlns:a="http://schemas.openxmlformats.org/drawingml/2006/main">
              <a:ext uri="{FF2B5EF4-FFF2-40B4-BE49-F238E27FC236}">
                <a16:creationId xmlns:a16="http://schemas.microsoft.com/office/drawing/2014/main" id="{7E7636C9-F1FA-4EC8-A6FA-0BD92A9A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RELATIONAL MODEL · SQLITE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E06539B-2EA3-411B-A4EE-AC8D486E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3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578B2365-11EA-4F9D-B435-5C82BBE2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13811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4" name="db-caption">
            <a:extLst xmlns:a="http://schemas.openxmlformats.org/drawingml/2006/main">
              <a:ext uri="{FF2B5EF4-FFF2-40B4-BE49-F238E27FC236}">
                <a16:creationId xmlns:a16="http://schemas.microsoft.com/office/drawing/2014/main" id="{89929D71-708D-4B1E-AF12-157D23B2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Foreign keys connect the hiring workflow; unique constraints prevent duplicate applications.</a:t>
            </a:r>
          </a:p>
        </p:txBody>
      </p:sp>
      <p:sp>
        <p:nvSpPr>
          <p:cNvPr id="5" name="users-body">
            <a:extLst xmlns:a="http://schemas.openxmlformats.org/drawingml/2006/main">
              <a:ext uri="{FF2B5EF4-FFF2-40B4-BE49-F238E27FC236}">
                <a16:creationId xmlns:a16="http://schemas.microsoft.com/office/drawing/2014/main" id="{8DBA5D73-8031-4EEC-9036-76DB3921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143125" cy="1285875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6" name="users-head">
            <a:extLst xmlns:a="http://schemas.openxmlformats.org/drawingml/2006/main">
              <a:ext uri="{FF2B5EF4-FFF2-40B4-BE49-F238E27FC236}">
                <a16:creationId xmlns:a16="http://schemas.microsoft.com/office/drawing/2014/main" id="{B320AED3-C571-480E-AD6E-F2AEC8EB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1431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AF1FE"/>
          </a:solidFill>
          <a:ln xmlns:a="http://schemas.openxmlformats.org/drawingml/2006/main" w="0">
            <a:solidFill>
              <a:srgbClr val="EAF1FE"/>
            </a:solidFill>
            <a:prstDash val="solid"/>
          </a:ln>
        </p:spPr>
      </p:sp>
      <p:sp>
        <p:nvSpPr>
          <p:cNvPr id="7" name="users-title">
            <a:extLst xmlns:a="http://schemas.openxmlformats.org/drawingml/2006/main">
              <a:ext uri="{FF2B5EF4-FFF2-40B4-BE49-F238E27FC236}">
                <a16:creationId xmlns:a16="http://schemas.microsoft.com/office/drawing/2014/main" id="{C9889AB2-EE90-485A-8F21-42F67DB0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38375"/>
            <a:ext cx="18764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1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8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8" name="users-field-0">
            <a:extLst xmlns:a="http://schemas.openxmlformats.org/drawingml/2006/main">
              <a:ext uri="{FF2B5EF4-FFF2-40B4-BE49-F238E27FC236}">
                <a16:creationId xmlns:a16="http://schemas.microsoft.com/office/drawing/2014/main" id="{C792DDFB-0A9A-4849-84CF-36E8EB3D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895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PK  id</a:t>
            </a:r>
          </a:p>
        </p:txBody>
      </p:sp>
      <p:sp>
        <p:nvSpPr>
          <p:cNvPr id="9" name="users-field-1">
            <a:extLst xmlns:a="http://schemas.openxmlformats.org/drawingml/2006/main">
              <a:ext uri="{FF2B5EF4-FFF2-40B4-BE49-F238E27FC236}">
                <a16:creationId xmlns:a16="http://schemas.microsoft.com/office/drawing/2014/main" id="{4261047F-8C66-491F-A880-73C734DB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1895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email · role · active</a:t>
            </a:r>
          </a:p>
        </p:txBody>
      </p:sp>
      <p:sp>
        <p:nvSpPr>
          <p:cNvPr id="10" name="users-field-2">
            <a:extLst xmlns:a="http://schemas.openxmlformats.org/drawingml/2006/main">
              <a:ext uri="{FF2B5EF4-FFF2-40B4-BE49-F238E27FC236}">
                <a16:creationId xmlns:a16="http://schemas.microsoft.com/office/drawing/2014/main" id="{FAF8B223-C9C0-46D1-A176-D2386BB8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1895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name · title · company</a:t>
            </a:r>
          </a:p>
        </p:txBody>
      </p:sp>
      <p:sp>
        <p:nvSpPr>
          <p:cNvPr id="11" name="jobs-body">
            <a:extLst xmlns:a="http://schemas.openxmlformats.org/drawingml/2006/main">
              <a:ext uri="{FF2B5EF4-FFF2-40B4-BE49-F238E27FC236}">
                <a16:creationId xmlns:a16="http://schemas.microsoft.com/office/drawing/2014/main" id="{68F71D1F-50D2-4712-A272-2188B65C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2190750" cy="1285875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2" name="jobs-head">
            <a:extLst xmlns:a="http://schemas.openxmlformats.org/drawingml/2006/main">
              <a:ext uri="{FF2B5EF4-FFF2-40B4-BE49-F238E27FC236}">
                <a16:creationId xmlns:a16="http://schemas.microsoft.com/office/drawing/2014/main" id="{AE7675E8-DE4F-4C21-A8D5-F48A268A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219075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6F5F2"/>
          </a:solidFill>
          <a:ln xmlns:a="http://schemas.openxmlformats.org/drawingml/2006/main" w="0">
            <a:solidFill>
              <a:srgbClr val="E6F5F2"/>
            </a:solidFill>
            <a:prstDash val="solid"/>
          </a:ln>
        </p:spPr>
      </p:sp>
      <p:sp>
        <p:nvSpPr>
          <p:cNvPr id="13" name="jobs-title">
            <a:extLst xmlns:a="http://schemas.openxmlformats.org/drawingml/2006/main">
              <a:ext uri="{FF2B5EF4-FFF2-40B4-BE49-F238E27FC236}">
                <a16:creationId xmlns:a16="http://schemas.microsoft.com/office/drawing/2014/main" id="{83132961-CDC9-434E-B46A-2FFBC1F9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981200"/>
            <a:ext cx="1924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1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8"/>
                </a:solidFill>
                <a:latin typeface="Arial"/>
                <a:ea typeface="Arial"/>
                <a:cs typeface="Arial"/>
              </a:rPr>
              <a:t>jobs</a:t>
            </a:r>
          </a:p>
        </p:txBody>
      </p:sp>
      <p:sp>
        <p:nvSpPr>
          <p:cNvPr id="14" name="jobs-field-0">
            <a:extLst xmlns:a="http://schemas.openxmlformats.org/drawingml/2006/main">
              <a:ext uri="{FF2B5EF4-FFF2-40B4-BE49-F238E27FC236}">
                <a16:creationId xmlns:a16="http://schemas.microsoft.com/office/drawing/2014/main" id="{AD296009-6D99-4970-B99E-4104234A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3907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PK  id</a:t>
            </a:r>
          </a:p>
        </p:txBody>
      </p:sp>
      <p:sp>
        <p:nvSpPr>
          <p:cNvPr id="15" name="jobs-field-1">
            <a:extLst xmlns:a="http://schemas.openxmlformats.org/drawingml/2006/main">
              <a:ext uri="{FF2B5EF4-FFF2-40B4-BE49-F238E27FC236}">
                <a16:creationId xmlns:a16="http://schemas.microsoft.com/office/drawing/2014/main" id="{D1DFE7F3-713F-47F2-ACE4-E0FAADD9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6574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FK  employer_id</a:t>
            </a:r>
          </a:p>
        </p:txBody>
      </p:sp>
      <p:sp>
        <p:nvSpPr>
          <p:cNvPr id="16" name="jobs-field-2">
            <a:extLst xmlns:a="http://schemas.openxmlformats.org/drawingml/2006/main">
              <a:ext uri="{FF2B5EF4-FFF2-40B4-BE49-F238E27FC236}">
                <a16:creationId xmlns:a16="http://schemas.microsoft.com/office/drawing/2014/main" id="{6674E4E3-F053-4C01-BA02-74A02286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9241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title · status · expires_at</a:t>
            </a:r>
          </a:p>
        </p:txBody>
      </p:sp>
      <p:sp>
        <p:nvSpPr>
          <p:cNvPr id="17" name="applications-body">
            <a:extLst xmlns:a="http://schemas.openxmlformats.org/drawingml/2006/main">
              <a:ext uri="{FF2B5EF4-FFF2-40B4-BE49-F238E27FC236}">
                <a16:creationId xmlns:a16="http://schemas.microsoft.com/office/drawing/2014/main" id="{86264DB4-6574-4DA8-80CC-0E890A9C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2333625" cy="1285875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8" name="applications-head">
            <a:extLst xmlns:a="http://schemas.openxmlformats.org/drawingml/2006/main">
              <a:ext uri="{FF2B5EF4-FFF2-40B4-BE49-F238E27FC236}">
                <a16:creationId xmlns:a16="http://schemas.microsoft.com/office/drawing/2014/main" id="{6C2EEF3A-67A1-4B7C-AFAC-8952B985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23336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0EDFA"/>
          </a:solidFill>
          <a:ln xmlns:a="http://schemas.openxmlformats.org/drawingml/2006/main" w="0">
            <a:solidFill>
              <a:srgbClr val="F0EDFA"/>
            </a:solidFill>
            <a:prstDash val="solid"/>
          </a:ln>
        </p:spPr>
      </p:sp>
      <p:sp>
        <p:nvSpPr>
          <p:cNvPr id="19" name="applications-title">
            <a:extLst xmlns:a="http://schemas.openxmlformats.org/drawingml/2006/main">
              <a:ext uri="{FF2B5EF4-FFF2-40B4-BE49-F238E27FC236}">
                <a16:creationId xmlns:a16="http://schemas.microsoft.com/office/drawing/2014/main" id="{128A5932-22C1-455F-878A-84498630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38375"/>
            <a:ext cx="2066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1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8"/>
                </a:solidFill>
                <a:latin typeface="Arial"/>
                <a:ea typeface="Arial"/>
                <a:cs typeface="Arial"/>
              </a:rPr>
              <a:t>applications</a:t>
            </a:r>
          </a:p>
        </p:txBody>
      </p:sp>
      <p:sp>
        <p:nvSpPr>
          <p:cNvPr id="20" name="applications-field-0">
            <a:extLst xmlns:a="http://schemas.openxmlformats.org/drawingml/2006/main">
              <a:ext uri="{FF2B5EF4-FFF2-40B4-BE49-F238E27FC236}">
                <a16:creationId xmlns:a16="http://schemas.microsoft.com/office/drawing/2014/main" id="{2C0C0014-692A-40E0-AD51-D3F19759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PK  id</a:t>
            </a:r>
          </a:p>
        </p:txBody>
      </p:sp>
      <p:sp>
        <p:nvSpPr>
          <p:cNvPr id="21" name="applications-field-1">
            <a:extLst xmlns:a="http://schemas.openxmlformats.org/drawingml/2006/main">
              <a:ext uri="{FF2B5EF4-FFF2-40B4-BE49-F238E27FC236}">
                <a16:creationId xmlns:a16="http://schemas.microsoft.com/office/drawing/2014/main" id="{A951BA99-3B99-429A-BBF7-12D5F329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1465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FK  job_id · seeker_id</a:t>
            </a:r>
          </a:p>
        </p:txBody>
      </p:sp>
      <p:sp>
        <p:nvSpPr>
          <p:cNvPr id="22" name="applications-field-2">
            <a:extLst xmlns:a="http://schemas.openxmlformats.org/drawingml/2006/main">
              <a:ext uri="{FF2B5EF4-FFF2-40B4-BE49-F238E27FC236}">
                <a16:creationId xmlns:a16="http://schemas.microsoft.com/office/drawing/2014/main" id="{E4D8A940-CB64-4FE9-AAEF-472CB943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status · resume_path</a:t>
            </a:r>
          </a:p>
        </p:txBody>
      </p:sp>
      <p:sp>
        <p:nvSpPr>
          <p:cNvPr id="23" name="messages-body">
            <a:extLst xmlns:a="http://schemas.openxmlformats.org/drawingml/2006/main">
              <a:ext uri="{FF2B5EF4-FFF2-40B4-BE49-F238E27FC236}">
                <a16:creationId xmlns:a16="http://schemas.microsoft.com/office/drawing/2014/main" id="{6D9B25E9-5F53-43E2-8E0F-676BFC5B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952625"/>
            <a:ext cx="2095500" cy="1285875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4" name="messages-head">
            <a:extLst xmlns:a="http://schemas.openxmlformats.org/drawingml/2006/main">
              <a:ext uri="{FF2B5EF4-FFF2-40B4-BE49-F238E27FC236}">
                <a16:creationId xmlns:a16="http://schemas.microsoft.com/office/drawing/2014/main" id="{539B852C-3AE4-4FF8-940B-F16D80A5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952625"/>
            <a:ext cx="209550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0">
            <a:solidFill>
              <a:srgbClr val="E6F5EE"/>
            </a:solidFill>
            <a:prstDash val="solid"/>
          </a:ln>
        </p:spPr>
      </p:sp>
      <p:sp>
        <p:nvSpPr>
          <p:cNvPr id="25" name="messages-title">
            <a:extLst xmlns:a="http://schemas.openxmlformats.org/drawingml/2006/main">
              <a:ext uri="{FF2B5EF4-FFF2-40B4-BE49-F238E27FC236}">
                <a16:creationId xmlns:a16="http://schemas.microsoft.com/office/drawing/2014/main" id="{D4C96EB0-97B9-436B-B092-74B087AF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981200"/>
            <a:ext cx="1828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1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8"/>
                </a:solidFill>
                <a:latin typeface="Arial"/>
                <a:ea typeface="Arial"/>
                <a:cs typeface="Arial"/>
              </a:rPr>
              <a:t>messages</a:t>
            </a:r>
          </a:p>
        </p:txBody>
      </p:sp>
      <p:sp>
        <p:nvSpPr>
          <p:cNvPr id="26" name="messages-field-0">
            <a:extLst xmlns:a="http://schemas.openxmlformats.org/drawingml/2006/main">
              <a:ext uri="{FF2B5EF4-FFF2-40B4-BE49-F238E27FC236}">
                <a16:creationId xmlns:a16="http://schemas.microsoft.com/office/drawing/2014/main" id="{56766049-CA54-41D8-957B-6EB2A08F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907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PK  id</a:t>
            </a:r>
          </a:p>
        </p:txBody>
      </p:sp>
      <p:sp>
        <p:nvSpPr>
          <p:cNvPr id="27" name="messages-field-1">
            <a:extLst xmlns:a="http://schemas.openxmlformats.org/drawingml/2006/main">
              <a:ext uri="{FF2B5EF4-FFF2-40B4-BE49-F238E27FC236}">
                <a16:creationId xmlns:a16="http://schemas.microsoft.com/office/drawing/2014/main" id="{A5E563C3-F9A6-4481-8351-1990C2FD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6574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FK  application_id</a:t>
            </a:r>
          </a:p>
        </p:txBody>
      </p:sp>
      <p:sp>
        <p:nvSpPr>
          <p:cNvPr id="28" name="messages-field-2">
            <a:extLst xmlns:a="http://schemas.openxmlformats.org/drawingml/2006/main">
              <a:ext uri="{FF2B5EF4-FFF2-40B4-BE49-F238E27FC236}">
                <a16:creationId xmlns:a16="http://schemas.microsoft.com/office/drawing/2014/main" id="{A60F32E0-F5ED-4D34-BA6A-8D4BA2FA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924175"/>
            <a:ext cx="1847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sender_id · body</a:t>
            </a:r>
          </a:p>
        </p:txBody>
      </p:sp>
      <p:sp>
        <p:nvSpPr>
          <p:cNvPr id="29" name="activity_log-body">
            <a:extLst xmlns:a="http://schemas.openxmlformats.org/drawingml/2006/main">
              <a:ext uri="{FF2B5EF4-FFF2-40B4-BE49-F238E27FC236}">
                <a16:creationId xmlns:a16="http://schemas.microsoft.com/office/drawing/2014/main" id="{E4FA063D-712E-4517-BBB7-526185A1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38650"/>
            <a:ext cx="2190750" cy="1285875"/>
          </a:xfrm>
          <a:prstGeom xmlns:a="http://schemas.openxmlformats.org/drawingml/2006/main" prst="roundRect">
            <a:avLst>
              <a:gd name="adj" fmla="val 51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0" name="activity_log-head">
            <a:extLst xmlns:a="http://schemas.openxmlformats.org/drawingml/2006/main">
              <a:ext uri="{FF2B5EF4-FFF2-40B4-BE49-F238E27FC236}">
                <a16:creationId xmlns:a16="http://schemas.microsoft.com/office/drawing/2014/main" id="{5F373E58-46D2-42ED-AD97-E1CF97BD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38650"/>
            <a:ext cx="2190750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0">
            <a:solidFill>
              <a:srgbClr val="FFF4DF"/>
            </a:solidFill>
            <a:prstDash val="solid"/>
          </a:ln>
        </p:spPr>
      </p:sp>
      <p:sp>
        <p:nvSpPr>
          <p:cNvPr id="31" name="activity_log-title">
            <a:extLst xmlns:a="http://schemas.openxmlformats.org/drawingml/2006/main">
              <a:ext uri="{FF2B5EF4-FFF2-40B4-BE49-F238E27FC236}">
                <a16:creationId xmlns:a16="http://schemas.microsoft.com/office/drawing/2014/main" id="{7CF3CB90-23E2-49F2-BA67-7DF1DA0D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467225"/>
            <a:ext cx="19240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1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8"/>
                </a:solidFill>
                <a:latin typeface="Arial"/>
                <a:ea typeface="Arial"/>
                <a:cs typeface="Arial"/>
              </a:rPr>
              <a:t>activity_log</a:t>
            </a:r>
          </a:p>
        </p:txBody>
      </p:sp>
      <p:sp>
        <p:nvSpPr>
          <p:cNvPr id="32" name="activity_log-field-0">
            <a:extLst xmlns:a="http://schemas.openxmlformats.org/drawingml/2006/main">
              <a:ext uri="{FF2B5EF4-FFF2-40B4-BE49-F238E27FC236}">
                <a16:creationId xmlns:a16="http://schemas.microsoft.com/office/drawing/2014/main" id="{99EA7CE0-69E2-4282-A49C-4F67FA18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8768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PK  id</a:t>
            </a:r>
          </a:p>
        </p:txBody>
      </p:sp>
      <p:sp>
        <p:nvSpPr>
          <p:cNvPr id="33" name="activity_log-field-1">
            <a:extLst xmlns:a="http://schemas.openxmlformats.org/drawingml/2006/main">
              <a:ext uri="{FF2B5EF4-FFF2-40B4-BE49-F238E27FC236}">
                <a16:creationId xmlns:a16="http://schemas.microsoft.com/office/drawing/2014/main" id="{D82252B3-1A28-46C4-9D3D-773E05D8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1435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FK  actor_id</a:t>
            </a:r>
          </a:p>
        </p:txBody>
      </p:sp>
      <p:sp>
        <p:nvSpPr>
          <p:cNvPr id="34" name="activity_log-field-2">
            <a:extLst xmlns:a="http://schemas.openxmlformats.org/drawingml/2006/main">
              <a:ext uri="{FF2B5EF4-FFF2-40B4-BE49-F238E27FC236}">
                <a16:creationId xmlns:a16="http://schemas.microsoft.com/office/drawing/2014/main" id="{83AEC2F5-29F6-4FC8-B709-489D6546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41020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description · created_at</a:t>
            </a:r>
          </a:p>
        </p:txBody>
      </p:sp>
      <p:sp>
        <p:nvSpPr>
          <p:cNvPr id="35" name="settings-body">
            <a:extLst xmlns:a="http://schemas.openxmlformats.org/drawingml/2006/main">
              <a:ext uri="{FF2B5EF4-FFF2-40B4-BE49-F238E27FC236}">
                <a16:creationId xmlns:a16="http://schemas.microsoft.com/office/drawing/2014/main" id="{DA643978-9CD3-43D2-9D2E-4727479C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2333625" cy="10001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6" name="settings-head">
            <a:extLst xmlns:a="http://schemas.openxmlformats.org/drawingml/2006/main">
              <a:ext uri="{FF2B5EF4-FFF2-40B4-BE49-F238E27FC236}">
                <a16:creationId xmlns:a16="http://schemas.microsoft.com/office/drawing/2014/main" id="{4FB047EF-0CB2-445D-9182-2B48B46F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23336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EEF2F6"/>
            </a:solidFill>
            <a:prstDash val="solid"/>
          </a:ln>
        </p:spPr>
      </p:sp>
      <p:sp>
        <p:nvSpPr>
          <p:cNvPr id="37" name="settings-title">
            <a:extLst xmlns:a="http://schemas.openxmlformats.org/drawingml/2006/main">
              <a:ext uri="{FF2B5EF4-FFF2-40B4-BE49-F238E27FC236}">
                <a16:creationId xmlns:a16="http://schemas.microsoft.com/office/drawing/2014/main" id="{F7B2B912-2F59-44FA-AD7F-502AACFB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67225"/>
            <a:ext cx="2066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B172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B17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728"/>
                </a:solidFill>
                <a:latin typeface="Arial"/>
                <a:ea typeface="Arial"/>
                <a:cs typeface="Arial"/>
              </a:rPr>
              <a:t>system_settings</a:t>
            </a:r>
          </a:p>
        </p:txBody>
      </p:sp>
      <p:sp>
        <p:nvSpPr>
          <p:cNvPr id="38" name="settings-field-0">
            <a:extLst xmlns:a="http://schemas.openxmlformats.org/drawingml/2006/main">
              <a:ext uri="{FF2B5EF4-FFF2-40B4-BE49-F238E27FC236}">
                <a16:creationId xmlns:a16="http://schemas.microsoft.com/office/drawing/2014/main" id="{8D557A00-4ED4-4585-8079-1BF38826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7680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PK  setting_key</a:t>
            </a:r>
          </a:p>
        </p:txBody>
      </p:sp>
      <p:sp>
        <p:nvSpPr>
          <p:cNvPr id="39" name="settings-field-1">
            <a:extLst xmlns:a="http://schemas.openxmlformats.org/drawingml/2006/main">
              <a:ext uri="{FF2B5EF4-FFF2-40B4-BE49-F238E27FC236}">
                <a16:creationId xmlns:a16="http://schemas.microsoft.com/office/drawing/2014/main" id="{7C57642F-E5BD-4CCF-A462-EC7628ED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43500"/>
            <a:ext cx="2085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setting_value</a:t>
            </a:r>
          </a:p>
        </p:txBody>
      </p:sp>
      <p:sp>
        <p:nvSpPr>
          <p:cNvPr id="45" name="db-rel-1">
            <a:extLst xmlns:a="http://schemas.openxmlformats.org/drawingml/2006/main">
              <a:ext uri="{FF2B5EF4-FFF2-40B4-BE49-F238E27FC236}">
                <a16:creationId xmlns:a16="http://schemas.microsoft.com/office/drawing/2014/main" id="{E3DC2744-2645-4159-B299-1F418DCA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47875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87"/>
          </a:bodyPr>
          <a:lstStyle xmlns:a="http://schemas.openxmlformats.org/drawingml/2006/main">
            <a:defPPr algn="ctr">
              <a:defRPr sz="900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employer_id</a:t>
            </a:r>
          </a:p>
        </p:txBody>
      </p:sp>
      <p:sp>
        <p:nvSpPr>
          <p:cNvPr id="46" name="db-rel-2">
            <a:extLst xmlns:a="http://schemas.openxmlformats.org/drawingml/2006/main">
              <a:ext uri="{FF2B5EF4-FFF2-40B4-BE49-F238E27FC236}">
                <a16:creationId xmlns:a16="http://schemas.microsoft.com/office/drawing/2014/main" id="{6359C8EC-359E-4E2C-9017-802309FA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47875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job_id</a:t>
            </a:r>
          </a:p>
        </p:txBody>
      </p:sp>
      <p:sp>
        <p:nvSpPr>
          <p:cNvPr id="47" name="db-rel-3">
            <a:extLst xmlns:a="http://schemas.openxmlformats.org/drawingml/2006/main">
              <a:ext uri="{FF2B5EF4-FFF2-40B4-BE49-F238E27FC236}">
                <a16:creationId xmlns:a16="http://schemas.microsoft.com/office/drawing/2014/main" id="{E7CC4F9F-6EAD-470B-9F12-B355019B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47875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537"/>
          </a:bodyPr>
          <a:lstStyle xmlns:a="http://schemas.openxmlformats.org/drawingml/2006/main">
            <a:defPPr algn="ctr">
              <a:defRPr sz="900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application_id</a:t>
            </a:r>
          </a:p>
        </p:txBody>
      </p:sp>
      <p:sp>
        <p:nvSpPr>
          <p:cNvPr id="48" name="db-rel-4">
            <a:extLst xmlns:a="http://schemas.openxmlformats.org/drawingml/2006/main">
              <a:ext uri="{FF2B5EF4-FFF2-40B4-BE49-F238E27FC236}">
                <a16:creationId xmlns:a16="http://schemas.microsoft.com/office/drawing/2014/main" id="{C3A0FAA4-0C3D-4616-A3AC-F7C45071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575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725BC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725BC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25BC7"/>
                </a:solidFill>
                <a:latin typeface="Arial"/>
                <a:ea typeface="Arial"/>
                <a:cs typeface="Arial"/>
              </a:rPr>
              <a:t>seeker_id</a:t>
            </a:r>
          </a:p>
        </p:txBody>
      </p:sp>
      <p:sp>
        <p:nvSpPr>
          <p:cNvPr id="49" name="db-rel-5">
            <a:extLst xmlns:a="http://schemas.openxmlformats.org/drawingml/2006/main">
              <a:ext uri="{FF2B5EF4-FFF2-40B4-BE49-F238E27FC236}">
                <a16:creationId xmlns:a16="http://schemas.microsoft.com/office/drawing/2014/main" id="{893D1785-3391-4FC2-B75E-B4D73CC3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10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A66F1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A66F1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6F18"/>
                </a:solidFill>
                <a:latin typeface="Arial"/>
                <a:ea typeface="Arial"/>
                <a:cs typeface="Arial"/>
              </a:rPr>
              <a:t>actor_id</a:t>
            </a:r>
          </a:p>
        </p:txBody>
      </p:sp>
      <p:sp>
        <p:nvSpPr>
          <p:cNvPr id="50" name="db-key-note">
            <a:extLst xmlns:a="http://schemas.openxmlformats.org/drawingml/2006/main">
              <a:ext uri="{FF2B5EF4-FFF2-40B4-BE49-F238E27FC236}">
                <a16:creationId xmlns:a16="http://schemas.microsoft.com/office/drawing/2014/main" id="{0401F292-BAF3-40F8-A74F-4FA558EE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647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1 → many relationships shown by the FK arrows</a:t>
            </a:r>
          </a:p>
        </p:txBody>
      </p:sp>
      <p:sp>
        <p:nvSpPr>
          <p:cNvPr id="51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ABE61C27-93F1-4E41-BD3F-F53CC907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2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9228D0CD-DEAA-4429-8DB7-9C62FE63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8B98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B98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98AA"/>
                </a:solidFill>
                <a:latin typeface="Arial"/>
                <a:ea typeface="Arial"/>
                <a:cs typeface="Arial"/>
              </a:rPr>
              <a:t>TALENTBRIDGE  /  JAVA WEB PROJECT</a:t>
            </a:r>
          </a:p>
        </p:txBody>
      </p:sp>
      <p:sp>
        <p:nvSpPr>
          <p:cNvPr id="53" name="footer-right-4">
            <a:extLst xmlns:a="http://schemas.openxmlformats.org/drawingml/2006/main">
              <a:ext uri="{FF2B5EF4-FFF2-40B4-BE49-F238E27FC236}">
                <a16:creationId xmlns:a16="http://schemas.microsoft.com/office/drawing/2014/main" id="{B636F09F-2CA5-4F95-9BBF-5A59CA71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8B98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8B98A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98AA"/>
                </a:solidFill>
                <a:latin typeface="Arial"/>
                <a:ea typeface="Arial"/>
                <a:cs typeface="Arial"/>
              </a:rPr>
              <a:t>04  /  07</a:t>
            </a:r>
          </a:p>
        </p:txBody>
      </p:sp>
    </p:spTree>
    <p:extLst>
      <p:ext uri="{BB962C8B-B14F-4D97-AF65-F5344CB8AC3E}">
        <p14:creationId xmlns:p14="http://schemas.microsoft.com/office/powerpoint/2010/main" val="930640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2B0BC6-9714-47FC-8748-49C3072EF6CB}"/>
              </a:ext>
            </a:extLst>
          </p:cNvPr>
          <p:cNvCxnSpPr>
            <a:stCxn xmlns:a="http://schemas.openxmlformats.org/drawingml/2006/main" id="14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>
            <a:off x="8172450" y="2438400"/>
            <a:ext cx="17811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DABC0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AFBE5E-F1A1-445C-AFA3-1D0420A7782C}"/>
              </a:ext>
            </a:extLst>
          </p:cNvPr>
          <p:cNvCxnSpPr>
            <a:stCxn xmlns:a="http://schemas.openxmlformats.org/drawingml/2006/main" id="11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>
            <a:off x="5934075" y="2438400"/>
            <a:ext cx="17811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DABC0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F19ECA-33C2-4917-99B4-0303D081D56B}"/>
              </a:ext>
            </a:extLst>
          </p:cNvPr>
          <p:cNvCxnSpPr>
            <a:stCxn xmlns:a="http://schemas.openxmlformats.org/drawingml/2006/main" id="8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3695700" y="2438400"/>
            <a:ext cx="17811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DABC0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498C0D-D51B-43D9-8C43-16909A52AD5C}"/>
              </a:ext>
            </a:extLst>
          </p:cNvPr>
          <p:cNvCxnSpPr>
            <a:stCxn xmlns:a="http://schemas.openxmlformats.org/drawingml/2006/main" id="5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1457325" y="2438400"/>
            <a:ext cx="17811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DABC0"/>
            </a:solidFill>
            <a:prstDash val="solid"/>
            <a:tailEnd type="triangle" w="sm" len="sm"/>
          </a:ln>
        </p:spPr>
      </p:cxnSp>
      <p:sp>
        <p:nvSpPr>
          <p:cNvPr id="31" name="kicker-5">
            <a:extLst xmlns:a="http://schemas.openxmlformats.org/drawingml/2006/main">
              <a:ext uri="{FF2B5EF4-FFF2-40B4-BE49-F238E27FC236}">
                <a16:creationId xmlns:a16="http://schemas.microsoft.com/office/drawing/2014/main" id="{098EA460-9541-4BCE-B542-F0A4CC49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ROLE HANDOFFS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27EE2F9C-4024-4A10-803B-2421BC20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Hiring workflow</a:t>
            </a:r>
          </a:p>
        </p:txBody>
      </p:sp>
      <p:sp>
        <p:nvSpPr>
          <p:cNvPr id="3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D86AB2B7-CB91-402C-A5F8-FD1652AF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13811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4" name="flow-subtitle">
            <a:extLst xmlns:a="http://schemas.openxmlformats.org/drawingml/2006/main">
              <a:ext uri="{FF2B5EF4-FFF2-40B4-BE49-F238E27FC236}">
                <a16:creationId xmlns:a16="http://schemas.microsoft.com/office/drawing/2014/main" id="{351A17A4-632C-4F66-BD67-5770BC7A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 posting must pass review before candidates can apply.</a:t>
            </a:r>
          </a:p>
        </p:txBody>
      </p:sp>
      <p:sp>
        <p:nvSpPr>
          <p:cNvPr id="5" name="step-1-dot">
            <a:extLst xmlns:a="http://schemas.openxmlformats.org/drawingml/2006/main">
              <a:ext uri="{FF2B5EF4-FFF2-40B4-BE49-F238E27FC236}">
                <a16:creationId xmlns:a16="http://schemas.microsoft.com/office/drawing/2014/main" id="{FD798DE5-7955-4181-A480-C15F4445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8D"/>
          </a:solidFill>
          <a:ln xmlns:a="http://schemas.openxmlformats.org/drawingml/2006/main" w="9525">
            <a:solidFill>
              <a:srgbClr val="168B8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42424F38-88E9-406E-8108-648BFAC9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3845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080"/>
          </a:bodyPr>
          <a:lstStyle xmlns:a="http://schemas.openxmlformats.org/drawingml/2006/main">
            <a:defPPr algn="l">
              <a:defRPr sz="1650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Employer submits</a:t>
            </a:r>
          </a:p>
        </p:txBody>
      </p:sp>
      <p:sp>
        <p:nvSpPr>
          <p:cNvPr id="7" name="step-1-copy">
            <a:extLst xmlns:a="http://schemas.openxmlformats.org/drawingml/2006/main">
              <a:ext uri="{FF2B5EF4-FFF2-40B4-BE49-F238E27FC236}">
                <a16:creationId xmlns:a16="http://schemas.microsoft.com/office/drawing/2014/main" id="{84468F65-58D0-47FF-8C6D-3BB6A8E4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718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Adds role, location,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type, salary, skills</a:t>
            </a:r>
          </a:p>
        </p:txBody>
      </p:sp>
      <p:sp>
        <p:nvSpPr>
          <p:cNvPr id="8" name="step-2-dot">
            <a:extLst xmlns:a="http://schemas.openxmlformats.org/drawingml/2006/main">
              <a:ext uri="{FF2B5EF4-FFF2-40B4-BE49-F238E27FC236}">
                <a16:creationId xmlns:a16="http://schemas.microsoft.com/office/drawing/2014/main" id="{EEED3B23-8CBA-437C-A0BC-321DD3E5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09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5BC7"/>
          </a:solidFill>
          <a:ln xmlns:a="http://schemas.openxmlformats.org/drawingml/2006/main" w="9525">
            <a:solidFill>
              <a:srgbClr val="725BC7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B84833F6-AC25-4398-8839-846F9ACF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3845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Admin reviews</a:t>
            </a:r>
          </a:p>
        </p:txBody>
      </p:sp>
      <p:sp>
        <p:nvSpPr>
          <p:cNvPr id="10" name="step-2-copy">
            <a:extLst xmlns:a="http://schemas.openxmlformats.org/drawingml/2006/main">
              <a:ext uri="{FF2B5EF4-FFF2-40B4-BE49-F238E27FC236}">
                <a16:creationId xmlns:a16="http://schemas.microsoft.com/office/drawing/2014/main" id="{DDC845C0-5D94-4C10-B993-42C18A6F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718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Approves or rejects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the job listing</a:t>
            </a:r>
          </a:p>
        </p:txBody>
      </p:sp>
      <p:sp>
        <p:nvSpPr>
          <p:cNvPr id="11" name="step-3-dot">
            <a:extLst xmlns:a="http://schemas.openxmlformats.org/drawingml/2006/main">
              <a:ext uri="{FF2B5EF4-FFF2-40B4-BE49-F238E27FC236}">
                <a16:creationId xmlns:a16="http://schemas.microsoft.com/office/drawing/2014/main" id="{CDC480C6-7163-4298-8551-E105585D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09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4"/>
          </a:solidFill>
          <a:ln xmlns:a="http://schemas.openxmlformats.org/drawingml/2006/main" w="9525">
            <a:solidFill>
              <a:srgbClr val="2F6FE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7F03B8F8-3FC2-458B-B7A9-520345B3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83845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Seeker applies</a:t>
            </a:r>
          </a:p>
        </p:txBody>
      </p:sp>
      <p:sp>
        <p:nvSpPr>
          <p:cNvPr id="13" name="step-3-copy">
            <a:extLst xmlns:a="http://schemas.openxmlformats.org/drawingml/2006/main">
              <a:ext uri="{FF2B5EF4-FFF2-40B4-BE49-F238E27FC236}">
                <a16:creationId xmlns:a16="http://schemas.microsoft.com/office/drawing/2014/main" id="{99B2545F-CB09-44A4-83BD-0F67E45A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3718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Searches, adds a note,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and uploads a resume</a:t>
            </a:r>
          </a:p>
        </p:txBody>
      </p:sp>
      <p:sp>
        <p:nvSpPr>
          <p:cNvPr id="14" name="step-4-dot">
            <a:extLst xmlns:a="http://schemas.openxmlformats.org/drawingml/2006/main">
              <a:ext uri="{FF2B5EF4-FFF2-40B4-BE49-F238E27FC236}">
                <a16:creationId xmlns:a16="http://schemas.microsoft.com/office/drawing/2014/main" id="{1F014A00-14EC-4095-B19D-4DA3BE99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09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B8D"/>
          </a:solidFill>
          <a:ln xmlns:a="http://schemas.openxmlformats.org/drawingml/2006/main" w="9525">
            <a:solidFill>
              <a:srgbClr val="168B8D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step-4-title">
            <a:extLst xmlns:a="http://schemas.openxmlformats.org/drawingml/2006/main">
              <a:ext uri="{FF2B5EF4-FFF2-40B4-BE49-F238E27FC236}">
                <a16:creationId xmlns:a16="http://schemas.microsoft.com/office/drawing/2014/main" id="{EE8CD0C4-EF2E-467A-B13D-E3ACAA52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3845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93"/>
          </a:bodyPr>
          <a:lstStyle xmlns:a="http://schemas.openxmlformats.org/drawingml/2006/main">
            <a:defPPr algn="l">
              <a:defRPr sz="1650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Employer reviews</a:t>
            </a:r>
          </a:p>
        </p:txBody>
      </p:sp>
      <p:sp>
        <p:nvSpPr>
          <p:cNvPr id="16" name="step-4-copy">
            <a:extLst xmlns:a="http://schemas.openxmlformats.org/drawingml/2006/main">
              <a:ext uri="{FF2B5EF4-FFF2-40B4-BE49-F238E27FC236}">
                <a16:creationId xmlns:a16="http://schemas.microsoft.com/office/drawing/2014/main" id="{B3A583CF-C367-4558-8BA1-F81A997B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718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Updates status from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review to offer or hire</a:t>
            </a:r>
          </a:p>
        </p:txBody>
      </p:sp>
      <p:sp>
        <p:nvSpPr>
          <p:cNvPr id="17" name="step-5-dot">
            <a:extLst xmlns:a="http://schemas.openxmlformats.org/drawingml/2006/main">
              <a:ext uri="{FF2B5EF4-FFF2-40B4-BE49-F238E27FC236}">
                <a16:creationId xmlns:a16="http://schemas.microsoft.com/office/drawing/2014/main" id="{ADDEE9A6-5C00-48C4-B7BE-A4A993E3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209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8560"/>
          </a:solidFill>
          <a:ln xmlns:a="http://schemas.openxmlformats.org/drawingml/2006/main" w="9525">
            <a:solidFill>
              <a:srgbClr val="18856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step-5-title">
            <a:extLst xmlns:a="http://schemas.openxmlformats.org/drawingml/2006/main">
              <a:ext uri="{FF2B5EF4-FFF2-40B4-BE49-F238E27FC236}">
                <a16:creationId xmlns:a16="http://schemas.microsoft.com/office/drawing/2014/main" id="{95567ACE-7003-4EBC-A3E5-CEEBB559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838450"/>
            <a:ext cx="176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334"/>
          </a:bodyPr>
          <a:lstStyle xmlns:a="http://schemas.openxmlformats.org/drawingml/2006/main">
            <a:defPPr algn="l">
              <a:defRPr sz="1650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Both communicate</a:t>
            </a:r>
          </a:p>
        </p:txBody>
      </p:sp>
      <p:sp>
        <p:nvSpPr>
          <p:cNvPr id="19" name="step-5-copy">
            <a:extLst xmlns:a="http://schemas.openxmlformats.org/drawingml/2006/main">
              <a:ext uri="{FF2B5EF4-FFF2-40B4-BE49-F238E27FC236}">
                <a16:creationId xmlns:a16="http://schemas.microsoft.com/office/drawing/2014/main" id="{A0EF78BC-7A08-4040-AF67-769A7080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3718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Application messages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keep next steps together</a:t>
            </a:r>
          </a:p>
        </p:txBody>
      </p:sp>
      <p:sp>
        <p:nvSpPr>
          <p:cNvPr id="24" name="flow-status-band">
            <a:extLst xmlns:a="http://schemas.openxmlformats.org/drawingml/2006/main">
              <a:ext uri="{FF2B5EF4-FFF2-40B4-BE49-F238E27FC236}">
                <a16:creationId xmlns:a16="http://schemas.microsoft.com/office/drawing/2014/main" id="{6409B9E8-0C6F-4C67-BBA7-87B22021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10875" cy="1114425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flow-status-label">
            <a:extLst xmlns:a="http://schemas.openxmlformats.org/drawingml/2006/main">
              <a:ext uri="{FF2B5EF4-FFF2-40B4-BE49-F238E27FC236}">
                <a16:creationId xmlns:a16="http://schemas.microsoft.com/office/drawing/2014/main" id="{96F5673A-F9B3-4535-9F8D-654EFC10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APPLICATION STATES</a:t>
            </a:r>
          </a:p>
        </p:txBody>
      </p:sp>
      <p:sp>
        <p:nvSpPr>
          <p:cNvPr id="26" name="flow-status-sequence">
            <a:extLst xmlns:a="http://schemas.openxmlformats.org/drawingml/2006/main">
              <a:ext uri="{FF2B5EF4-FFF2-40B4-BE49-F238E27FC236}">
                <a16:creationId xmlns:a16="http://schemas.microsoft.com/office/drawing/2014/main" id="{DA469B8B-E13D-4DB8-98CD-03D7294A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In review   →   Shortlisted   →   Interview   →   Offer   →   Hired</a:t>
            </a:r>
          </a:p>
        </p:txBody>
      </p:sp>
      <p:sp>
        <p:nvSpPr>
          <p:cNvPr id="27" name="flow-status-note">
            <a:extLst xmlns:a="http://schemas.openxmlformats.org/drawingml/2006/main">
              <a:ext uri="{FF2B5EF4-FFF2-40B4-BE49-F238E27FC236}">
                <a16:creationId xmlns:a16="http://schemas.microsoft.com/office/drawing/2014/main" id="{6AB09751-5FAC-42C3-9ED8-665270AE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8640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Rejected and withdrawn outcomes are also recorded.</a:t>
            </a:r>
          </a:p>
        </p:txBody>
      </p:sp>
      <p:sp>
        <p:nvSpPr>
          <p:cNvPr id="28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299B0B6F-6ED7-46E5-B1CA-1623B608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9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12DE5AD3-B031-41BB-BE04-015C4617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8B98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B98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98AA"/>
                </a:solidFill>
                <a:latin typeface="Arial"/>
                <a:ea typeface="Arial"/>
                <a:cs typeface="Arial"/>
              </a:rPr>
              <a:t>TALENTBRIDGE  /  JAVA WEB PROJECT</a:t>
            </a:r>
          </a:p>
        </p:txBody>
      </p:sp>
      <p:sp>
        <p:nvSpPr>
          <p:cNvPr id="30" name="footer-right-5">
            <a:extLst xmlns:a="http://schemas.openxmlformats.org/drawingml/2006/main">
              <a:ext uri="{FF2B5EF4-FFF2-40B4-BE49-F238E27FC236}">
                <a16:creationId xmlns:a16="http://schemas.microsoft.com/office/drawing/2014/main" id="{D507887C-64C7-40A9-8FB3-605F2335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8B98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8B98A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98AA"/>
                </a:solidFill>
                <a:latin typeface="Arial"/>
                <a:ea typeface="Arial"/>
                <a:cs typeface="Arial"/>
              </a:rPr>
              <a:t>05  /  07</a:t>
            </a:r>
          </a:p>
        </p:txBody>
      </p:sp>
    </p:spTree>
    <p:extLst>
      <p:ext uri="{BB962C8B-B14F-4D97-AF65-F5344CB8AC3E}">
        <p14:creationId xmlns:p14="http://schemas.microsoft.com/office/powerpoint/2010/main" val="13131617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-6">
            <a:extLst xmlns:a="http://schemas.openxmlformats.org/drawingml/2006/main">
              <a:ext uri="{FF2B5EF4-FFF2-40B4-BE49-F238E27FC236}">
                <a16:creationId xmlns:a16="http://schemas.microsoft.com/office/drawing/2014/main" id="{AF62D2C6-79D6-43BE-BDAF-C4E7788B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ASSESSMENT EVIDENCE · 33 MARKS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53F6180E-5221-4247-9FF2-A789075A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Java Web rubric mapping</a:t>
            </a:r>
          </a:p>
        </p:txBody>
      </p:sp>
      <p:sp>
        <p:nvSpPr>
          <p:cNvPr id="3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E293F77B-0D4C-4C8D-A34F-2230B0EE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138112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4" name="rubric-h-0">
            <a:extLst xmlns:a="http://schemas.openxmlformats.org/drawingml/2006/main">
              <a:ext uri="{FF2B5EF4-FFF2-40B4-BE49-F238E27FC236}">
                <a16:creationId xmlns:a16="http://schemas.microsoft.com/office/drawing/2014/main" id="{7FA2DB08-C3A9-43FF-8A21-75CACECF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61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8B98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8B98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98AA"/>
                </a:solidFill>
                <a:latin typeface="Arial"/>
                <a:ea typeface="Arial"/>
                <a:cs typeface="Arial"/>
              </a:rPr>
              <a:t>#</a:t>
            </a:r>
          </a:p>
        </p:txBody>
      </p:sp>
      <p:sp>
        <p:nvSpPr>
          <p:cNvPr id="5" name="rubric-h-1">
            <a:extLst xmlns:a="http://schemas.openxmlformats.org/drawingml/2006/main">
              <a:ext uri="{FF2B5EF4-FFF2-40B4-BE49-F238E27FC236}">
                <a16:creationId xmlns:a16="http://schemas.microsoft.com/office/drawing/2014/main" id="{5CF0D8D9-2165-4AA8-B0D2-CA12DB01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95450"/>
            <a:ext cx="403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8B98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8B98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98AA"/>
                </a:solidFill>
                <a:latin typeface="Arial"/>
                <a:ea typeface="Arial"/>
                <a:cs typeface="Arial"/>
              </a:rPr>
              <a:t>REVIEW AREA</a:t>
            </a:r>
          </a:p>
        </p:txBody>
      </p:sp>
      <p:sp>
        <p:nvSpPr>
          <p:cNvPr id="6" name="rubric-h-2">
            <a:extLst xmlns:a="http://schemas.openxmlformats.org/drawingml/2006/main">
              <a:ext uri="{FF2B5EF4-FFF2-40B4-BE49-F238E27FC236}">
                <a16:creationId xmlns:a16="http://schemas.microsoft.com/office/drawing/2014/main" id="{84B46493-89C1-4EEC-961C-FE022048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695450"/>
            <a:ext cx="942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8B98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8B98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98AA"/>
                </a:solidFill>
                <a:latin typeface="Arial"/>
                <a:ea typeface="Arial"/>
                <a:cs typeface="Arial"/>
              </a:rPr>
              <a:t>MARKS</a:t>
            </a:r>
          </a:p>
        </p:txBody>
      </p:sp>
      <p:sp>
        <p:nvSpPr>
          <p:cNvPr id="7" name="rubric-h-3">
            <a:extLst xmlns:a="http://schemas.openxmlformats.org/drawingml/2006/main">
              <a:ext uri="{FF2B5EF4-FFF2-40B4-BE49-F238E27FC236}">
                <a16:creationId xmlns:a16="http://schemas.microsoft.com/office/drawing/2014/main" id="{005A8C5E-B05A-4E3A-A5A5-32591CC8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695450"/>
            <a:ext cx="4752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8B98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8B98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B98AA"/>
                </a:solidFill>
                <a:latin typeface="Arial"/>
                <a:ea typeface="Arial"/>
                <a:cs typeface="Arial"/>
              </a:rPr>
              <a:t>PROJECT EVIDENCE</a:t>
            </a:r>
          </a:p>
        </p:txBody>
      </p:sp>
      <p:sp>
        <p:nvSpPr>
          <p:cNvPr id="8" name="rubric-head-rule">
            <a:extLst xmlns:a="http://schemas.openxmlformats.org/drawingml/2006/main">
              <a:ext uri="{FF2B5EF4-FFF2-40B4-BE49-F238E27FC236}">
                <a16:creationId xmlns:a16="http://schemas.microsoft.com/office/drawing/2014/main" id="{59286E00-47E4-4937-8177-895AA16A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6750" y="20288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18253A"/>
            </a:solidFill>
            <a:prstDash val="solid"/>
          </a:ln>
        </p:spPr>
      </p:sp>
      <p:sp>
        <p:nvSpPr>
          <p:cNvPr id="9" name="rubric-row-bg-0">
            <a:extLst xmlns:a="http://schemas.openxmlformats.org/drawingml/2006/main">
              <a:ext uri="{FF2B5EF4-FFF2-40B4-BE49-F238E27FC236}">
                <a16:creationId xmlns:a16="http://schemas.microsoft.com/office/drawing/2014/main" id="{487A9BAB-3493-472A-A491-833CB731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10858500" cy="723900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ubric-num-0">
            <a:extLst xmlns:a="http://schemas.openxmlformats.org/drawingml/2006/main">
              <a:ext uri="{FF2B5EF4-FFF2-40B4-BE49-F238E27FC236}">
                <a16:creationId xmlns:a16="http://schemas.microsoft.com/office/drawing/2014/main" id="{66DD46CD-ED71-4D89-9F62-39887B2A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rubric-area-0">
            <a:extLst xmlns:a="http://schemas.openxmlformats.org/drawingml/2006/main">
              <a:ext uri="{FF2B5EF4-FFF2-40B4-BE49-F238E27FC236}">
                <a16:creationId xmlns:a16="http://schemas.microsoft.com/office/drawing/2014/main" id="{C92FC9B3-00A0-42EC-9BA2-E74313E2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4790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Problem understanding &amp; solution design</a:t>
            </a:r>
          </a:p>
        </p:txBody>
      </p:sp>
      <p:sp>
        <p:nvSpPr>
          <p:cNvPr id="12" name="rubric-mark-0">
            <a:extLst xmlns:a="http://schemas.openxmlformats.org/drawingml/2006/main">
              <a:ext uri="{FF2B5EF4-FFF2-40B4-BE49-F238E27FC236}">
                <a16:creationId xmlns:a16="http://schemas.microsoft.com/office/drawing/2014/main" id="{E45E54FD-E4C6-4702-AA7F-2D5F4D78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3837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3" name="rubric-proof-0">
            <a:extLst xmlns:a="http://schemas.openxmlformats.org/drawingml/2006/main">
              <a:ext uri="{FF2B5EF4-FFF2-40B4-BE49-F238E27FC236}">
                <a16:creationId xmlns:a16="http://schemas.microsoft.com/office/drawing/2014/main" id="{1D6C806A-C7B7-41E8-9AAB-C58A1711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238375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Three account roles, job approval, application stages, and schema planned as one workflow.</a:t>
            </a:r>
          </a:p>
        </p:txBody>
      </p:sp>
      <p:sp>
        <p:nvSpPr>
          <p:cNvPr id="14" name="rubric-num-1">
            <a:extLst xmlns:a="http://schemas.openxmlformats.org/drawingml/2006/main">
              <a:ext uri="{FF2B5EF4-FFF2-40B4-BE49-F238E27FC236}">
                <a16:creationId xmlns:a16="http://schemas.microsoft.com/office/drawing/2014/main" id="{EA44D014-391E-4AE0-90DE-B619D041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rubric-area-1">
            <a:extLst xmlns:a="http://schemas.openxmlformats.org/drawingml/2006/main">
              <a:ext uri="{FF2B5EF4-FFF2-40B4-BE49-F238E27FC236}">
                <a16:creationId xmlns:a16="http://schemas.microsoft.com/office/drawing/2014/main" id="{6CB68CAD-801F-4440-A86E-A9C3DF80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Core Java concepts</a:t>
            </a:r>
          </a:p>
        </p:txBody>
      </p:sp>
      <p:sp>
        <p:nvSpPr>
          <p:cNvPr id="16" name="rubric-mark-1">
            <a:extLst xmlns:a="http://schemas.openxmlformats.org/drawingml/2006/main">
              <a:ext uri="{FF2B5EF4-FFF2-40B4-BE49-F238E27FC236}">
                <a16:creationId xmlns:a16="http://schemas.microsoft.com/office/drawing/2014/main" id="{B5166574-61A0-4629-9D56-1971B18F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0037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7" name="rubric-proof-1">
            <a:extLst xmlns:a="http://schemas.openxmlformats.org/drawingml/2006/main">
              <a:ext uri="{FF2B5EF4-FFF2-40B4-BE49-F238E27FC236}">
                <a16:creationId xmlns:a16="http://schemas.microsoft.com/office/drawing/2014/main" id="{E1A70092-67F2-435E-9C73-1EC8BFE6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000375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Abstract User with role subclasses; generic Repository&lt;T, ID&gt;; enums, validation, and PBKDF2 hashing.</a:t>
            </a:r>
          </a:p>
        </p:txBody>
      </p:sp>
      <p:sp>
        <p:nvSpPr>
          <p:cNvPr id="18" name="rubric-row-bg-2">
            <a:extLst xmlns:a="http://schemas.openxmlformats.org/drawingml/2006/main">
              <a:ext uri="{FF2B5EF4-FFF2-40B4-BE49-F238E27FC236}">
                <a16:creationId xmlns:a16="http://schemas.microsoft.com/office/drawing/2014/main" id="{CD9A0642-E597-43F3-B386-12EEF1C1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0858500" cy="723900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ubric-num-2">
            <a:extLst xmlns:a="http://schemas.openxmlformats.org/drawingml/2006/main">
              <a:ext uri="{FF2B5EF4-FFF2-40B4-BE49-F238E27FC236}">
                <a16:creationId xmlns:a16="http://schemas.microsoft.com/office/drawing/2014/main" id="{30D6E0E8-D558-4F09-B564-64186755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rubric-area-2">
            <a:extLst xmlns:a="http://schemas.openxmlformats.org/drawingml/2006/main">
              <a:ext uri="{FF2B5EF4-FFF2-40B4-BE49-F238E27FC236}">
                <a16:creationId xmlns:a16="http://schemas.microsoft.com/office/drawing/2014/main" id="{38476460-B706-430B-A233-A2EDCA05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7190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Database integration (JDBC)</a:t>
            </a:r>
          </a:p>
        </p:txBody>
      </p:sp>
      <p:sp>
        <p:nvSpPr>
          <p:cNvPr id="21" name="rubric-mark-2">
            <a:extLst xmlns:a="http://schemas.openxmlformats.org/drawingml/2006/main">
              <a:ext uri="{FF2B5EF4-FFF2-40B4-BE49-F238E27FC236}">
                <a16:creationId xmlns:a16="http://schemas.microsoft.com/office/drawing/2014/main" id="{9B933AA9-63F3-4F9A-90FE-A79C4EF9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6237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2" name="rubric-proof-2">
            <a:extLst xmlns:a="http://schemas.openxmlformats.org/drawingml/2006/main">
              <a:ext uri="{FF2B5EF4-FFF2-40B4-BE49-F238E27FC236}">
                <a16:creationId xmlns:a16="http://schemas.microsoft.com/office/drawing/2014/main" id="{0C527194-AA49-4EB3-8F4D-BB07B399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762375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SQLite schema, connection setup, prepared statements, and focused DAO classes.</a:t>
            </a:r>
          </a:p>
        </p:txBody>
      </p:sp>
      <p:sp>
        <p:nvSpPr>
          <p:cNvPr id="23" name="rubric-num-3">
            <a:extLst xmlns:a="http://schemas.openxmlformats.org/drawingml/2006/main">
              <a:ext uri="{FF2B5EF4-FFF2-40B4-BE49-F238E27FC236}">
                <a16:creationId xmlns:a16="http://schemas.microsoft.com/office/drawing/2014/main" id="{195C704F-9D50-46A8-AE68-55EB8585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62475"/>
            <a:ext cx="36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rubric-area-3">
            <a:extLst xmlns:a="http://schemas.openxmlformats.org/drawingml/2006/main">
              <a:ext uri="{FF2B5EF4-FFF2-40B4-BE49-F238E27FC236}">
                <a16:creationId xmlns:a16="http://schemas.microsoft.com/office/drawing/2014/main" id="{82430693-55FE-4B63-A627-AB398216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33900"/>
            <a:ext cx="4019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Servlets &amp; web integration</a:t>
            </a:r>
          </a:p>
        </p:txBody>
      </p:sp>
      <p:sp>
        <p:nvSpPr>
          <p:cNvPr id="25" name="rubric-mark-3">
            <a:extLst xmlns:a="http://schemas.openxmlformats.org/drawingml/2006/main">
              <a:ext uri="{FF2B5EF4-FFF2-40B4-BE49-F238E27FC236}">
                <a16:creationId xmlns:a16="http://schemas.microsoft.com/office/drawing/2014/main" id="{E65DC5E7-6BC0-4F52-812D-FB3A4009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524375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6" name="rubric-proof-3">
            <a:extLst xmlns:a="http://schemas.openxmlformats.org/drawingml/2006/main">
              <a:ext uri="{FF2B5EF4-FFF2-40B4-BE49-F238E27FC236}">
                <a16:creationId xmlns:a16="http://schemas.microsoft.com/office/drawing/2014/main" id="{386645EC-50E2-464A-9469-C388B60D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524375"/>
            <a:ext cx="466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Jakarta Servlet 6 filters/controllers, JSP views, session security, and multipart resumes.</a:t>
            </a:r>
          </a:p>
        </p:txBody>
      </p:sp>
      <p:sp>
        <p:nvSpPr>
          <p:cNvPr id="27" name="rubric-total-line">
            <a:extLst xmlns:a="http://schemas.openxmlformats.org/drawingml/2006/main">
              <a:ext uri="{FF2B5EF4-FFF2-40B4-BE49-F238E27FC236}">
                <a16:creationId xmlns:a16="http://schemas.microsoft.com/office/drawing/2014/main" id="{2E510EC2-8AB8-4524-BF13-9175EF58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6750" y="530542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8" name="rubric-total">
            <a:extLst xmlns:a="http://schemas.openxmlformats.org/drawingml/2006/main">
              <a:ext uri="{FF2B5EF4-FFF2-40B4-BE49-F238E27FC236}">
                <a16:creationId xmlns:a16="http://schemas.microsoft.com/office/drawing/2014/main" id="{B6D881BB-95D4-44A4-8E05-D56282EC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825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53A"/>
                </a:solidFill>
                <a:latin typeface="Arial"/>
                <a:ea typeface="Arial"/>
                <a:cs typeface="Arial"/>
              </a:rPr>
              <a:t>TOTAL</a:t>
            </a:r>
          </a:p>
        </p:txBody>
      </p:sp>
      <p:sp>
        <p:nvSpPr>
          <p:cNvPr id="29" name="rubric-total-number">
            <a:extLst xmlns:a="http://schemas.openxmlformats.org/drawingml/2006/main">
              <a:ext uri="{FF2B5EF4-FFF2-40B4-BE49-F238E27FC236}">
                <a16:creationId xmlns:a16="http://schemas.microsoft.com/office/drawing/2014/main" id="{DBB2FABC-387A-4A94-BA5B-C6E3F22E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4102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2F6FE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FE4"/>
                </a:solidFill>
                <a:latin typeface="Arial"/>
                <a:ea typeface="Arial"/>
                <a:cs typeface="Arial"/>
              </a:rPr>
              <a:t>33 marks</a:t>
            </a:r>
          </a:p>
        </p:txBody>
      </p:sp>
      <p:sp>
        <p:nvSpPr>
          <p:cNvPr id="30" name="rubric-extension">
            <a:extLst xmlns:a="http://schemas.openxmlformats.org/drawingml/2006/main">
              <a:ext uri="{FF2B5EF4-FFF2-40B4-BE49-F238E27FC236}">
                <a16:creationId xmlns:a16="http://schemas.microsoft.com/office/drawing/2014/main" id="{A1E58889-326B-4B80-ACC6-9532FFE3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15025"/>
            <a:ext cx="1076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68B8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68B8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B8D"/>
                </a:solidFill>
                <a:latin typeface="Arial"/>
                <a:ea typeface="Arial"/>
                <a:cs typeface="Arial"/>
              </a:rPr>
              <a:t>Additional Java topics: managed background threads · collections and generics · exception handling</a:t>
            </a:r>
          </a:p>
        </p:txBody>
      </p:sp>
      <p:sp>
        <p:nvSpPr>
          <p:cNvPr id="31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03DCF3CD-9C55-44A8-81F9-F14DAC76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64389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2" name="footer-left-6">
            <a:extLst xmlns:a="http://schemas.openxmlformats.org/drawingml/2006/main">
              <a:ext uri="{FF2B5EF4-FFF2-40B4-BE49-F238E27FC236}">
                <a16:creationId xmlns:a16="http://schemas.microsoft.com/office/drawing/2014/main" id="{247E4597-25DA-4BC0-8F5E-B4CEC10C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15100"/>
            <a:ext cx="552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8B98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B98A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B98AA"/>
                </a:solidFill>
                <a:latin typeface="Arial"/>
                <a:ea typeface="Arial"/>
                <a:cs typeface="Arial"/>
              </a:rPr>
              <a:t>TALENTBRIDGE  /  JAVA WEB PROJECT</a:t>
            </a:r>
          </a:p>
        </p:txBody>
      </p:sp>
      <p:sp>
        <p:nvSpPr>
          <p:cNvPr id="33" name="footer-right-6">
            <a:extLst xmlns:a="http://schemas.openxmlformats.org/drawingml/2006/main">
              <a:ext uri="{FF2B5EF4-FFF2-40B4-BE49-F238E27FC236}">
                <a16:creationId xmlns:a16="http://schemas.microsoft.com/office/drawing/2014/main" id="{FF41475F-CD43-41C5-8532-65A4F0FD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0">
                <a:solidFill>
                  <a:srgbClr val="8B98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8B98A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B98AA"/>
                </a:solidFill>
                <a:latin typeface="Arial"/>
                <a:ea typeface="Arial"/>
                <a:cs typeface="Arial"/>
              </a:rPr>
              <a:t>06  /  07</a:t>
            </a:r>
          </a:p>
        </p:txBody>
      </p:sp>
    </p:spTree>
    <p:extLst>
      <p:ext uri="{BB962C8B-B14F-4D97-AF65-F5344CB8AC3E}">
        <p14:creationId xmlns:p14="http://schemas.microsoft.com/office/powerpoint/2010/main" val="10095137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7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un-kicker">
            <a:extLst xmlns:a="http://schemas.openxmlformats.org/drawingml/2006/main">
              <a:ext uri="{FF2B5EF4-FFF2-40B4-BE49-F238E27FC236}">
                <a16:creationId xmlns:a16="http://schemas.microsoft.com/office/drawing/2014/main" id="{ACECE5EE-3AB9-49DB-80A9-4BA0E0FA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A9C8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A9C8F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C8FA"/>
                </a:solidFill>
                <a:latin typeface="Arial"/>
                <a:ea typeface="Arial"/>
                <a:cs typeface="Arial"/>
              </a:rPr>
              <a:t>LOCAL DEMO</a:t>
            </a:r>
          </a:p>
        </p:txBody>
      </p:sp>
      <p:sp>
        <p:nvSpPr>
          <p:cNvPr id="2" name="run-title">
            <a:extLst xmlns:a="http://schemas.openxmlformats.org/drawingml/2006/main">
              <a:ext uri="{FF2B5EF4-FFF2-40B4-BE49-F238E27FC236}">
                <a16:creationId xmlns:a16="http://schemas.microsoft.com/office/drawing/2014/main" id="{275DDBDC-F9EE-4A45-810E-75FBF950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and explore</a:t>
            </a:r>
          </a:p>
        </p:txBody>
      </p:sp>
      <p:sp>
        <p:nvSpPr>
          <p:cNvPr id="3" name="run-subtitle">
            <a:extLst xmlns:a="http://schemas.openxmlformats.org/drawingml/2006/main">
              <a:ext uri="{FF2B5EF4-FFF2-40B4-BE49-F238E27FC236}">
                <a16:creationId xmlns:a16="http://schemas.microsoft.com/office/drawing/2014/main" id="{F6BB7CBA-43AF-48B7-BE35-595253D5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C4D2E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C4D2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4D2E5"/>
                </a:solidFill>
                <a:latin typeface="Arial"/>
                <a:ea typeface="Arial"/>
                <a:cs typeface="Arial"/>
              </a:rPr>
              <a:t>First launch builds the WAR, creates the database, and seeds a working demo.</a:t>
            </a:r>
          </a:p>
        </p:txBody>
      </p:sp>
      <p:sp>
        <p:nvSpPr>
          <p:cNvPr id="4" name="run-step-n-0">
            <a:extLst xmlns:a="http://schemas.openxmlformats.org/drawingml/2006/main">
              <a:ext uri="{FF2B5EF4-FFF2-40B4-BE49-F238E27FC236}">
                <a16:creationId xmlns:a16="http://schemas.microsoft.com/office/drawing/2014/main" id="{8A89E1DD-D863-42B4-B0FB-50368258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DE0C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DE0C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E0C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un-step-title-0">
            <a:extLst xmlns:a="http://schemas.openxmlformats.org/drawingml/2006/main">
              <a:ext uri="{FF2B5EF4-FFF2-40B4-BE49-F238E27FC236}">
                <a16:creationId xmlns:a16="http://schemas.microsoft.com/office/drawing/2014/main" id="{B1C58361-3D56-45B1-A77D-6B9D72D2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05075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 the portal</a:t>
            </a:r>
          </a:p>
        </p:txBody>
      </p:sp>
      <p:sp>
        <p:nvSpPr>
          <p:cNvPr id="6" name="run-step-body-0">
            <a:extLst xmlns:a="http://schemas.openxmlformats.org/drawingml/2006/main">
              <a:ext uri="{FF2B5EF4-FFF2-40B4-BE49-F238E27FC236}">
                <a16:creationId xmlns:a16="http://schemas.microsoft.com/office/drawing/2014/main" id="{627B798D-89C4-401D-BADA-0F7D9A65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295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C3D0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C3D0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3D0E0"/>
                </a:solidFill>
                <a:latin typeface="Arial"/>
                <a:ea typeface="Arial"/>
                <a:cs typeface="Arial"/>
              </a:rPr>
              <a:t>JDK 17+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C3D0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3D0E0"/>
                </a:solidFill>
                <a:latin typeface="Arial"/>
                <a:ea typeface="Arial"/>
                <a:cs typeface="Arial"/>
              </a:rPr>
              <a:t>Double-click run.bat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C3D0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3D0E0"/>
                </a:solidFill>
                <a:latin typeface="Arial"/>
                <a:ea typeface="Arial"/>
                <a:cs typeface="Arial"/>
              </a:rPr>
              <a:t>First launch needs internet for Maven and dependencies.</a:t>
            </a:r>
          </a:p>
        </p:txBody>
      </p:sp>
      <p:sp>
        <p:nvSpPr>
          <p:cNvPr id="7" name="run-step-n-1">
            <a:extLst xmlns:a="http://schemas.openxmlformats.org/drawingml/2006/main">
              <a:ext uri="{FF2B5EF4-FFF2-40B4-BE49-F238E27FC236}">
                <a16:creationId xmlns:a16="http://schemas.microsoft.com/office/drawing/2014/main" id="{76DBB7D0-49AF-4E5A-80A5-ABAD60D5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1336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DE0C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6DE0C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DE0C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run-step-title-1">
            <a:extLst xmlns:a="http://schemas.openxmlformats.org/drawingml/2006/main">
              <a:ext uri="{FF2B5EF4-FFF2-40B4-BE49-F238E27FC236}">
                <a16:creationId xmlns:a16="http://schemas.microsoft.com/office/drawing/2014/main" id="{111F7785-710F-4F72-9D4C-0C9DF72D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505075"/>
            <a:ext cx="2905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the app</a:t>
            </a:r>
          </a:p>
        </p:txBody>
      </p:sp>
      <p:sp>
        <p:nvSpPr>
          <p:cNvPr id="9" name="run-step-body-1">
            <a:extLst xmlns:a="http://schemas.openxmlformats.org/drawingml/2006/main">
              <a:ext uri="{FF2B5EF4-FFF2-40B4-BE49-F238E27FC236}">
                <a16:creationId xmlns:a16="http://schemas.microsoft.com/office/drawing/2014/main" id="{7E29813B-AF04-496B-BB2C-092CBEF3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009900"/>
            <a:ext cx="295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C3D0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C3D0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3D0E0"/>
                </a:solidFill>
                <a:latin typeface="Arial"/>
                <a:ea typeface="Arial"/>
                <a:cs typeface="Arial"/>
              </a:rPr>
              <a:t>http://127.0.0.1:8080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C3D0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3D0E0"/>
                </a:solidFill>
                <a:latin typeface="Arial"/>
                <a:ea typeface="Arial"/>
                <a:cs typeface="Arial"/>
              </a:rPr>
              <a:t>The server runs on your computer.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C3D0E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3D0E0"/>
                </a:solidFill>
                <a:latin typeface="Arial"/>
                <a:ea typeface="Arial"/>
                <a:cs typeface="Arial"/>
              </a:rPr>
              <a:t>Keep the launch window open.</a:t>
            </a:r>
          </a:p>
        </p:txBody>
      </p:sp>
      <p:sp>
        <p:nvSpPr>
          <p:cNvPr id="10" name="run-vertical-divider">
            <a:extLst xmlns:a="http://schemas.openxmlformats.org/drawingml/2006/main">
              <a:ext uri="{FF2B5EF4-FFF2-40B4-BE49-F238E27FC236}">
                <a16:creationId xmlns:a16="http://schemas.microsoft.com/office/drawing/2014/main" id="{888CA975-72B7-41FE-94CE-7BDFDB1A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095750" y="2133600"/>
            <a:ext cx="0" cy="1866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964"/>
            </a:solidFill>
            <a:prstDash val="solid"/>
          </a:ln>
        </p:spPr>
      </p:sp>
      <p:sp>
        <p:nvSpPr>
          <p:cNvPr id="11" name="run-demo-surface">
            <a:extLst xmlns:a="http://schemas.openxmlformats.org/drawingml/2006/main">
              <a:ext uri="{FF2B5EF4-FFF2-40B4-BE49-F238E27FC236}">
                <a16:creationId xmlns:a16="http://schemas.microsoft.com/office/drawing/2014/main" id="{207C4069-DF9A-48C9-AE4C-6AD7EF6E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76450"/>
            <a:ext cx="3676650" cy="3286125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142844"/>
          </a:solidFill>
          <a:ln xmlns:a="http://schemas.openxmlformats.org/drawingml/2006/main" w="9525">
            <a:solidFill>
              <a:srgbClr val="324967"/>
            </a:solidFill>
            <a:prstDash val="solid"/>
          </a:ln>
        </p:spPr>
      </p:sp>
      <p:sp>
        <p:nvSpPr>
          <p:cNvPr id="12" name="run-demo-label">
            <a:extLst xmlns:a="http://schemas.openxmlformats.org/drawingml/2006/main">
              <a:ext uri="{FF2B5EF4-FFF2-40B4-BE49-F238E27FC236}">
                <a16:creationId xmlns:a16="http://schemas.microsoft.com/office/drawing/2014/main" id="{5461D654-B248-49F2-84EF-838F005A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86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9AB8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9AB8E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AB8E7"/>
                </a:solidFill>
                <a:latin typeface="Arial"/>
                <a:ea typeface="Arial"/>
                <a:cs typeface="Arial"/>
              </a:rPr>
              <a:t>DEMO ACCOUNTS</a:t>
            </a:r>
          </a:p>
        </p:txBody>
      </p:sp>
      <p:sp>
        <p:nvSpPr>
          <p:cNvPr id="13" name="run-role-0">
            <a:extLst xmlns:a="http://schemas.openxmlformats.org/drawingml/2006/main">
              <a:ext uri="{FF2B5EF4-FFF2-40B4-BE49-F238E27FC236}">
                <a16:creationId xmlns:a16="http://schemas.microsoft.com/office/drawing/2014/main" id="{1F23DA0E-A408-4D59-BDEB-AE5BA241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146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7D5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D5E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D5E7"/>
                </a:solidFill>
                <a:latin typeface="Arial"/>
                <a:ea typeface="Arial"/>
                <a:cs typeface="Arial"/>
              </a:rPr>
              <a:t>Administrator</a:t>
            </a:r>
          </a:p>
        </p:txBody>
      </p:sp>
      <p:sp>
        <p:nvSpPr>
          <p:cNvPr id="14" name="run-email-0">
            <a:extLst xmlns:a="http://schemas.openxmlformats.org/drawingml/2006/main">
              <a:ext uri="{FF2B5EF4-FFF2-40B4-BE49-F238E27FC236}">
                <a16:creationId xmlns:a16="http://schemas.microsoft.com/office/drawing/2014/main" id="{C81F5731-926A-4FD4-B937-1F1E6A18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432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admin@talentbridge.demo</a:t>
            </a:r>
          </a:p>
        </p:txBody>
      </p:sp>
      <p:sp>
        <p:nvSpPr>
          <p:cNvPr id="15" name="run-role-1">
            <a:extLst xmlns:a="http://schemas.openxmlformats.org/drawingml/2006/main">
              <a:ext uri="{FF2B5EF4-FFF2-40B4-BE49-F238E27FC236}">
                <a16:creationId xmlns:a16="http://schemas.microsoft.com/office/drawing/2014/main" id="{D2A0F0E5-197E-43EB-BB2A-0271C01A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623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7D5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D5E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D5E7"/>
                </a:solidFill>
                <a:latin typeface="Arial"/>
                <a:ea typeface="Arial"/>
                <a:cs typeface="Arial"/>
              </a:rPr>
              <a:t>Employer</a:t>
            </a:r>
          </a:p>
        </p:txBody>
      </p:sp>
      <p:sp>
        <p:nvSpPr>
          <p:cNvPr id="16" name="run-email-1">
            <a:extLst xmlns:a="http://schemas.openxmlformats.org/drawingml/2006/main">
              <a:ext uri="{FF2B5EF4-FFF2-40B4-BE49-F238E27FC236}">
                <a16:creationId xmlns:a16="http://schemas.microsoft.com/office/drawing/2014/main" id="{D584D202-E334-4388-991D-B3D34633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909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employer@talentbridge.demo</a:t>
            </a:r>
          </a:p>
        </p:txBody>
      </p:sp>
      <p:sp>
        <p:nvSpPr>
          <p:cNvPr id="17" name="run-role-2">
            <a:extLst xmlns:a="http://schemas.openxmlformats.org/drawingml/2006/main">
              <a:ext uri="{FF2B5EF4-FFF2-40B4-BE49-F238E27FC236}">
                <a16:creationId xmlns:a16="http://schemas.microsoft.com/office/drawing/2014/main" id="{70293715-9478-47E9-93A9-F74FEECA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100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7D5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D5E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D5E7"/>
                </a:solidFill>
                <a:latin typeface="Arial"/>
                <a:ea typeface="Arial"/>
                <a:cs typeface="Arial"/>
              </a:rPr>
              <a:t>Job seeker</a:t>
            </a:r>
          </a:p>
        </p:txBody>
      </p:sp>
      <p:sp>
        <p:nvSpPr>
          <p:cNvPr id="18" name="run-email-2">
            <a:extLst xmlns:a="http://schemas.openxmlformats.org/drawingml/2006/main">
              <a:ext uri="{FF2B5EF4-FFF2-40B4-BE49-F238E27FC236}">
                <a16:creationId xmlns:a16="http://schemas.microsoft.com/office/drawing/2014/main" id="{E3B9FCCD-9A3F-4DA6-9816-6E98F62B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386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seeker@talentbridge.demo</a:t>
            </a:r>
          </a:p>
        </p:txBody>
      </p:sp>
      <p:sp>
        <p:nvSpPr>
          <p:cNvPr id="19" name="run-demo-rule">
            <a:extLst xmlns:a="http://schemas.openxmlformats.org/drawingml/2006/main">
              <a:ext uri="{FF2B5EF4-FFF2-40B4-BE49-F238E27FC236}">
                <a16:creationId xmlns:a16="http://schemas.microsoft.com/office/drawing/2014/main" id="{B03507A1-C986-4D4A-9893-D9298DCF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58150" y="4686300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A506C"/>
            </a:solidFill>
            <a:prstDash val="solid"/>
          </a:ln>
        </p:spPr>
      </p:sp>
      <p:sp>
        <p:nvSpPr>
          <p:cNvPr id="20" name="run-password-label">
            <a:extLst xmlns:a="http://schemas.openxmlformats.org/drawingml/2006/main">
              <a:ext uri="{FF2B5EF4-FFF2-40B4-BE49-F238E27FC236}">
                <a16:creationId xmlns:a16="http://schemas.microsoft.com/office/drawing/2014/main" id="{7E1A0E48-DCF4-4703-809C-6297A344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38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94A9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94A9C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94A9C5"/>
                </a:solidFill>
                <a:latin typeface="Arial"/>
                <a:ea typeface="Arial"/>
                <a:cs typeface="Arial"/>
              </a:rPr>
              <a:t>PASSWORD FOR EACH ACCOUNT</a:t>
            </a:r>
          </a:p>
        </p:txBody>
      </p:sp>
      <p:sp>
        <p:nvSpPr>
          <p:cNvPr id="21" name="run-password">
            <a:extLst xmlns:a="http://schemas.openxmlformats.org/drawingml/2006/main">
              <a:ext uri="{FF2B5EF4-FFF2-40B4-BE49-F238E27FC236}">
                <a16:creationId xmlns:a16="http://schemas.microsoft.com/office/drawing/2014/main" id="{666CAF4D-2AF0-437F-8E5F-0E83F2A8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577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6DE0C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6DE0C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DE0CF"/>
                </a:solidFill>
                <a:latin typeface="Arial"/>
                <a:ea typeface="Arial"/>
                <a:cs typeface="Arial"/>
              </a:rPr>
              <a:t>demo1234</a:t>
            </a:r>
          </a:p>
        </p:txBody>
      </p:sp>
      <p:sp>
        <p:nvSpPr>
          <p:cNvPr id="22" name="run-footer-rule">
            <a:extLst xmlns:a="http://schemas.openxmlformats.org/drawingml/2006/main">
              <a:ext uri="{FF2B5EF4-FFF2-40B4-BE49-F238E27FC236}">
                <a16:creationId xmlns:a16="http://schemas.microsoft.com/office/drawing/2014/main" id="{5F87FC1C-3B8E-4364-8C20-A8EA7754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7700" y="6105525"/>
            <a:ext cx="1087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3C54"/>
            </a:solidFill>
            <a:prstDash val="solid"/>
          </a:ln>
        </p:spPr>
      </p:sp>
      <p:sp>
        <p:nvSpPr>
          <p:cNvPr id="23" name="run-footer-note">
            <a:extLst xmlns:a="http://schemas.openxmlformats.org/drawingml/2006/main">
              <a:ext uri="{FF2B5EF4-FFF2-40B4-BE49-F238E27FC236}">
                <a16:creationId xmlns:a16="http://schemas.microsoft.com/office/drawing/2014/main" id="{B7703681-ABC1-41CA-8B45-35E32635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293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93A7C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93A7C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3A7C3"/>
                </a:solidFill>
                <a:latin typeface="Arial"/>
                <a:ea typeface="Arial"/>
                <a:cs typeface="Arial"/>
              </a:rPr>
              <a:t>Demo data is local. The database and uploaded resumes are kept under the project’s data/ folder.</a:t>
            </a:r>
          </a:p>
        </p:txBody>
      </p:sp>
    </p:spTree>
    <p:extLst>
      <p:ext uri="{BB962C8B-B14F-4D97-AF65-F5344CB8AC3E}">
        <p14:creationId xmlns:p14="http://schemas.microsoft.com/office/powerpoint/2010/main" val="4359692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2026-10-08T19:54:03.9170000Z</dcterms:created>
  <dcterms:modified xsi:type="dcterms:W3CDTF">2026-10-08T19:54:03.9170000Z</dcterms:modified>
</coreProperties>
</file>